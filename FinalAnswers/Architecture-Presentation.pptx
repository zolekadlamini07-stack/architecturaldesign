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369c67d-0c79-75e8-05b0-53c8de38e0ec}">
          <p14:sldIdLst>
            <p14:sldId id="256"/>
            <p14:sldId id="257"/>
            <p14:sldId id="258"/>
          </p14:sldIdLst>
        </p14:section>
        <p14:section name="Question 1" id="{e5ddfaf8-1648-f318-97ab-8f36026d6627}">
          <p14:sldIdLst>
            <p14:sldId id="259"/>
            <p14:sldId id="260"/>
            <p14:sldId id="261"/>
            <p14:sldId id="262"/>
            <p14:sldId id="263"/>
            <p14:sldId id="264"/>
            <p14:sldId id="265"/>
            <p14:sldId id="266"/>
          </p14:sldIdLst>
        </p14:section>
        <p14:section name="Question 2" id="{2e5d3a86-0c8b-83c0-a292-38cc26ac12b4}">
          <p14:sldIdLst>
            <p14:sldId id="267"/>
            <p14:sldId id="268"/>
            <p14:sldId id="269"/>
            <p14:sldId id="270"/>
            <p14:sldId id="271"/>
            <p14:sldId id="272"/>
          </p14:sldIdLst>
        </p14:section>
        <p14:section name="Question 3" id="{9a37eac5-a0c2-1d93-8f2d-649d3bb0759e}">
          <p14:sldIdLst>
            <p14:sldId id="273"/>
            <p14:sldId id="274"/>
            <p14:sldId id="275"/>
            <p14:sldId id="276"/>
            <p14:sldId id="277"/>
            <p14:sldId id="278"/>
            <p14:sldId id="279"/>
            <p14:sldId id="280"/>
            <p14:sldId id="281"/>
          </p14:sldIdLst>
        </p14:section>
        <p14:section name="Challenge" id="{74786b57-c81f-0247-0dd4-a8db78bdc34c}">
          <p14:sldIdLst>
            <p14:sldId id="282"/>
            <p14:sldId id="283"/>
            <p14:sldId id="284"/>
            <p14:sldId id="285"/>
          </p14:sldIdLst>
        </p14:section>
        <p14:section name="Close" id="{4bd5d122-430c-0fb9-852d-0e39d8e73f76}">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exercise: one platform, four stages. The point is not the final picture but how each decision is justified by the problem in front of us at that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says: do not solve problems we have not been given, and be ready to explain any complexity we introduce. Every decision in this deck is tested against that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talk on one slide. The topology never changes: one modular monolith with vertical slices. Each stage adds only what its problems require. Q1 boundaries make Q2 changes local; the Q2 outbox is what makes Q3 safe; Q3 patterns are reused for the 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developers, no DevOps, one restaurant, so we build one deployable: a modular monolith. Eight modules each own their own schema in one PostgreSQL database and talk only through a public API or events. Inside each module, code is organised by use case as vertical slices, so each requirement in the brief is a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top to bottom: one responsive web app; one application with eight modules; one PostgreSQL database with one schema per module; two external systems behind adapters. Point out that the card is tokenised in the browser so card data never reaches us. Ordering is the heart; arrows show calls (solid) and events (dashed).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vertical slices, a responsibility is a slice is a folder. Every requirement in the brief maps to exactly one slice in exactly one module. Menu is part of Restaurants because it has the same owner and the same read path. Reporting owns no data and reads read-only across schemas.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one database, a schema per module, only the owner writes, IDs only across modules, snapshots of prices on order lines. Communication: commands are direct calls to a public API; facts are in-process events, which breaks the Ordering-Delivery cycle. Boundaries: deployment, module, slice, external,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earlier layered design. One feature touches four folders and every developer edits the same OrderService. Right: vertical slices. One feature is one folder. Simple reads stay plain queries; real rules like the order state machine live once in a small shared domain model. That is the pragmatic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1 is about cost of operation. Decision 2 is about cost of change. Decision 3 is about money correctness: hold at checkout, take on accept, release on reject, so a rejection is never a refund.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risks are honest and they set up the next two questions: shared resources is exactly what Q2 reports, and the payment provider on the order path is exactly what Q3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lists five styles. We do not pick one dogmatically: vertical slices are the primary structure; ports and adapters only at external systems; DDD strategically for module boundaries and tactically only for Order; the A-Frame idea of keeping decision logic pure.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the architecture, because none of the symptoms is caused by being a monolith. Each symptom gets a targeted fix, and we deliberately do not add microservices, a message broker or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row by row. The pattern is always the same: symptom, the Q1 decision that causes it, the cheapest fix that removes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layout as Q1 on purpose. Dashed boxes are new: CDN, Redis, worker process, outbox and job tables, read replica, CI pipeline. Thick borders are modules that changed. The worker is the same codebase started with a different command, not a new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and its event are saved in one transaction, so a crash after commit cannot lose the notification. RabbitMQ would still need an outbox to avoid the dual-write problem, so we keep the queue in PostgreSQL: no new server, no lost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question's three lists directly. We are not allowed to redesign because we can, and we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yes is tied to a symptom. Every no has a cheaper alternative that already solves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 mistake was treating a payment as success or failure. Over a network it can also be unknown. Everything in this section follows from taking unknown seriously.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a network, no reply does not mean failed. The request may never have arrived, may have succeeded with the reply lost, or may still be running. Our Q2 code turned every timeout into "failed", which is why customers were charged without seeing an order and clicked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new topology. Every change lives in Payments or Ordering, plus support tooling. Read them as prevent, contain, survive, converge, compensate,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Payments now runs provider calls only from the worker, on its own queue with its own concurrency limit. Provider webhooks come back into an inbox. A sweeper and a daily settlement check reconcile anything uncertain. Modules are grouped by team: Team A owns ordering and payments, Team B owns restaurants and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Ordering owns order state, Payments owns payment state, and they agree through events. While a payment is UNKNOWN, the order just stays PAYMENT_PENDING; Ordering never needs to know why. The restaurant only sees an order once payment is authorised.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answer; practise it without notes. Each scenario has a mechanism, and every mechanism is safe to run more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lanes left to right: customer, API, worker, provider. Steps 6, 9, 11, 12, 15 and 17 are the safety mechanisms. Step 18 is the decision: inside the 10-minute window the order proceeds, outside it the hold is 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layers, each answering one of the question's prompts. If asked how we know what happened after the fact: the append-only payment events table, order status history, and the order id as a correlation id in every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synchronous when the user waits and only our own database is touched; asynchronous when a third party or slow work is involved. Failures are isolated at the Payments adapter, inside the payments worker queue, behind the circuit breaker.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add one module, an anti-corruption layer. It is the only code that knows the acquired platform exists. Each platform keeps owning its own data and its own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is the first architectural decision. Phase 1 delivers the commercial value: their restaurants on our platform and combined reporting. Each fact has exactly one owner; copies are labelled as copies; no dual writes, no shared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PartnerIntegration module is the only code that knows them. Catalogue is synced in as a read-only copy, orders are forwarded with our order id as the idempotency key, and their status webhooks are translated into our own Ordering commands. It is just another module: own schema, slices,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platform is treated exactly like the payment provider in Q3: an external dependency we do not control. We reuse the same tools: worker queue, circuit breaker, idempotency, reconciliation. Versioning is pinned and protected by contract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method: design for the constraints you have, keep boundaries strong, and add complexity only when a named problem demands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731520" y="3611880"/>
            <a:ext cx="10698480" cy="1280160"/>
          </a:xfrm>
          <a:prstGeom prst="rect">
            <a:avLst/>
          </a:prstGeom>
          <a:noFill/>
          <a:ln/>
        </p:spPr>
        <p:txBody>
          <a:bodyPr wrap="square" rtlCol="0"/>
          <a:lstStyle>
            <a:lvl1pPr algn="ctr" indent="0" marL="0">
              <a:buNone/>
              <a:defRPr lang="en-US" sz="2000" dirty="0">
                <a:solidFill>
                  <a:schemeClr val="accent5"/>
                </a:solidFill>
              </a:defRPr>
            </a:lvl1pPr>
          </a:lstStyle>
          <a:p>
            <a:pPr algn="ct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Food Delivery Platform  |  Architecture Deliberate Practice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indent="0" marL="0">
              <a:buNone/>
            </a:pPr>
            <a:r>
              <a:rPr lang="en-US" sz="4000" b="1" dirty="0">
                <a:solidFill>
                  <a:schemeClr val="bg1"/>
                </a:solidFill>
              </a:rPr>
              <a:t>Food Delivery Platform Architecture</a:t>
            </a:r>
            <a:endParaRPr lang="en-US" sz="4000" dirty="0"/>
          </a:p>
        </p:txBody>
      </p:sp>
      <p:sp>
        <p:nvSpPr>
          <p:cNvPr id="3" name="Text 0"/>
          <p:cNvSpPr/>
          <p:nvPr>
            <p:ph idx="101" type="body" hasCustomPrompt="1"/>
          </p:nvPr>
        </p:nvSpPr>
        <p:spPr>
          <a:xfrm>
            <a:off x="731520" y="3611880"/>
            <a:ext cx="10698480" cy="1280160"/>
          </a:xfrm>
          <a:prstGeom prst="rect">
            <a:avLst/>
          </a:prstGeom>
          <a:noFill/>
          <a:ln/>
        </p:spPr>
        <p:txBody>
          <a:bodyPr wrap="square" lIns="0" tIns="0" rIns="0" bIns="0" rtlCol="0" anchor="t"/>
          <a:lstStyle/>
          <a:p>
            <a:pPr algn="ctr" indent="0" marL="0">
              <a:buNone/>
            </a:pPr>
            <a:r>
              <a:rPr lang="en-US" sz="2000" dirty="0">
                <a:solidFill>
                  <a:schemeClr val="accent5"/>
                </a:solidFill>
              </a:rPr>
              <a:t>A modular monolith with vertical slices: designed for launch, evolved for growth, hardened for failure, and extended for an acquisition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The brief: three users, one business, very tight constraints</a:t>
            </a:r>
            <a:endParaRPr lang="en-US" sz="3000" dirty="0"/>
          </a:p>
        </p:txBody>
      </p:sp>
      <p:sp>
        <p:nvSpPr>
          <p:cNvPr id="4" name="card What the system needs to do"/>
          <p:cNvSpPr/>
          <p:nvPr/>
        </p:nvSpPr>
        <p:spPr>
          <a:xfrm>
            <a:off x="548640" y="1280160"/>
            <a:ext cx="6766560" cy="4480560"/>
          </a:xfrm>
          <a:prstGeom prst="rect">
            <a:avLst/>
          </a:prstGeom>
          <a:solidFill>
            <a:schemeClr val="bg1"/>
          </a:solidFill>
          <a:ln w="12700">
            <a:solidFill>
              <a:schemeClr val="tx1"/>
            </a:solidFill>
            <a:prstDash val="solid"/>
          </a:ln>
        </p:spPr>
      </p:sp>
      <p:sp>
        <p:nvSpPr>
          <p:cNvPr id="5" name="Text 2"/>
          <p:cNvSpPr txBox="1"/>
          <p:nvPr/>
        </p:nvSpPr>
        <p:spPr>
          <a:xfrm>
            <a:off x="685800" y="1389888"/>
            <a:ext cx="6492240" cy="426110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What the system needs to do</a:t>
            </a:r>
            <a:endParaRPr lang="en-US" sz="2000" dirty="0"/>
          </a:p>
          <a:p>
            <a:pPr marL="177800" indent="-177800">
              <a:spcAft>
                <a:spcPts val="800"/>
              </a:spcAft>
              <a:buSzPct val="100000"/>
              <a:buChar char="•"/>
            </a:pPr>
            <a:r>
              <a:rPr lang="en-US" sz="1800" dirty="0">
                <a:solidFill>
                  <a:schemeClr val="tx1"/>
                </a:solidFill>
              </a:rPr>
              <a:t>Customers: create an account, browse restaurants, view menus, basket, place and pay for orders, track, view history</a:t>
            </a:r>
            <a:endParaRPr lang="en-US" sz="2000" dirty="0"/>
          </a:p>
          <a:p>
            <a:pPr marL="177800" indent="-177800">
              <a:spcAft>
                <a:spcPts val="800"/>
              </a:spcAft>
              <a:buSzPct val="100000"/>
              <a:buChar char="•"/>
            </a:pPr>
            <a:r>
              <a:rPr lang="en-US" sz="1800" dirty="0">
                <a:solidFill>
                  <a:schemeClr val="tx1"/>
                </a:solidFill>
              </a:rPr>
              <a:t>Restaurants: manage menu, receive orders, accept or reject, update status, see previous orders</a:t>
            </a:r>
            <a:endParaRPr lang="en-US" sz="2000" dirty="0"/>
          </a:p>
          <a:p>
            <a:pPr marL="177800" indent="-177800">
              <a:spcAft>
                <a:spcPts val="800"/>
              </a:spcAft>
              <a:buSzPct val="100000"/>
              <a:buChar char="•"/>
            </a:pPr>
            <a:r>
              <a:rPr lang="en-US" sz="1800" dirty="0">
                <a:solidFill>
                  <a:schemeClr val="tx1"/>
                </a:solidFill>
              </a:rPr>
              <a:t>Drivers: become available, receive delivery requests, accept, update status, see deliveries</a:t>
            </a:r>
            <a:endParaRPr lang="en-US" sz="2000" dirty="0"/>
          </a:p>
          <a:p>
            <a:pPr marL="177800" indent="-177800">
              <a:spcAft>
                <a:spcPts val="800"/>
              </a:spcAft>
              <a:buSzPct val="100000"/>
              <a:buChar char="•"/>
            </a:pPr>
            <a:r>
              <a:rPr lang="en-US" sz="1800" dirty="0">
                <a:solidFill>
                  <a:schemeClr val="tx1"/>
                </a:solidFill>
              </a:rPr>
              <a:t>Business: orders and revenue, completed deliveries, basic reporting</a:t>
            </a:r>
            <a:endParaRPr lang="en-US" sz="2000" dirty="0"/>
          </a:p>
        </p:txBody>
      </p:sp>
      <p:sp>
        <p:nvSpPr>
          <p:cNvPr id="6" name="card Starting constraints"/>
          <p:cNvSpPr/>
          <p:nvPr/>
        </p:nvSpPr>
        <p:spPr>
          <a:xfrm>
            <a:off x="7589520" y="1280160"/>
            <a:ext cx="4023360" cy="4480560"/>
          </a:xfrm>
          <a:prstGeom prst="rect">
            <a:avLst/>
          </a:prstGeom>
          <a:solidFill>
            <a:schemeClr val="bg1"/>
          </a:solidFill>
          <a:ln w="12700">
            <a:solidFill>
              <a:schemeClr val="tx1"/>
            </a:solidFill>
            <a:prstDash val="solid"/>
          </a:ln>
        </p:spPr>
      </p:sp>
      <p:sp>
        <p:nvSpPr>
          <p:cNvPr id="7" name="Text 4"/>
          <p:cNvSpPr txBox="1"/>
          <p:nvPr/>
        </p:nvSpPr>
        <p:spPr>
          <a:xfrm>
            <a:off x="7726680" y="1389888"/>
            <a:ext cx="3749040" cy="426110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Starting constraints</a:t>
            </a:r>
            <a:endParaRPr lang="en-US" sz="2000" dirty="0"/>
          </a:p>
          <a:p>
            <a:pPr marL="177800" indent="-177800">
              <a:spcAft>
                <a:spcPts val="800"/>
              </a:spcAft>
              <a:buSzPct val="100000"/>
              <a:buChar char="•"/>
            </a:pPr>
            <a:r>
              <a:rPr lang="en-US" sz="1800" dirty="0">
                <a:solidFill>
                  <a:schemeClr val="tx1"/>
                </a:solidFill>
              </a:rPr>
              <a:t>1 restaurant, few drivers, small customer base</a:t>
            </a:r>
            <a:endParaRPr lang="en-US" sz="2000" dirty="0"/>
          </a:p>
          <a:p>
            <a:pPr marL="177800" indent="-177800">
              <a:spcAft>
                <a:spcPts val="800"/>
              </a:spcAft>
              <a:buSzPct val="100000"/>
              <a:buChar char="•"/>
            </a:pPr>
            <a:r>
              <a:rPr lang="en-US" sz="1800" dirty="0">
                <a:solidFill>
                  <a:schemeClr val="tx1"/>
                </a:solidFill>
              </a:rPr>
              <a:t>3 developers, no DevOps team</a:t>
            </a:r>
            <a:endParaRPr lang="en-US" sz="2000" dirty="0"/>
          </a:p>
          <a:p>
            <a:pPr marL="177800" indent="-177800">
              <a:spcAft>
                <a:spcPts val="800"/>
              </a:spcAft>
              <a:buSzPct val="100000"/>
              <a:buChar char="•"/>
            </a:pPr>
            <a:r>
              <a:rPr lang="en-US" sz="1800" dirty="0">
                <a:solidFill>
                  <a:schemeClr val="tx1"/>
                </a:solidFill>
              </a:rPr>
              <a:t>Very limited infrastructure budget</a:t>
            </a:r>
            <a:endParaRPr lang="en-US" sz="2000" dirty="0"/>
          </a:p>
          <a:p>
            <a:pPr marL="177800" indent="-177800">
              <a:spcAft>
                <a:spcPts val="800"/>
              </a:spcAft>
              <a:buSzPct val="100000"/>
              <a:buChar char="•"/>
            </a:pPr>
            <a:r>
              <a:rPr lang="en-US" sz="1800" dirty="0">
                <a:solidFill>
                  <a:schemeClr val="tx1"/>
                </a:solidFill>
              </a:rPr>
              <a:t>Prove the business model first</a:t>
            </a:r>
            <a:endParaRPr lang="en-US" sz="2000" dirty="0"/>
          </a:p>
        </p:txBody>
      </p:sp>
      <p:sp>
        <p:nvSpPr>
          <p:cNvPr id="8" name="Text 5"/>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500" i="1" dirty="0">
                <a:solidFill>
                  <a:schemeClr val="tx2"/>
                </a:solidFill>
              </a:rPr>
              <a:t>Rule we design by: "Don't solve problems we haven't been given. If you introduce complexity, explain what problem it solves."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One architecture, evolved four times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463040"/>
                <a:gridCol w="2468880"/>
                <a:gridCol w="4206240"/>
                <a:gridCol w="2926080"/>
              </a:tblGrid>
              <a:tr h="0">
                <a:tc>
                  <a:txBody>
                    <a:bodyPr/>
                    <a:lstStyle/>
                    <a:p>
                      <a:pPr indent="0" marL="0">
                        <a:buNone/>
                      </a:pPr>
                      <a:r>
                        <a:rPr lang="en-US" sz="1600" b="1" dirty="0">
                          <a:solidFill>
                            <a:schemeClr val="bg1"/>
                          </a:solidFill>
                        </a:rPr>
                        <a:t>Stage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Context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What we add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Deliberately not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r>
              <a:tr h="0">
                <a:tc>
                  <a:txBody>
                    <a:bodyPr/>
                    <a:lstStyle/>
                    <a:p>
                      <a:pPr indent="0" marL="0">
                        <a:buNone/>
                      </a:pPr>
                      <a:r>
                        <a:rPr lang="en-US" sz="1600" b="1" dirty="0">
                          <a:solidFill>
                            <a:schemeClr val="tx1"/>
                          </a:solidFill>
                        </a:rPr>
                        <a:t>Q1  Design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 restaurant, 3 devs, no DevOps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Modular monolith, 8 modules, vertical slices, schema per module, adapters for external systems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Microservices, message broker, GPS tracking</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Q2  Growth</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15 to 50 restaurants, 5 devs, 1 city</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Redis cache, outbox + PostgreSQL job queue, worker process, read replica, rolling deploys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Microservices, RabbitMQ, Kubernetes, search engine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Q3  Failure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50 restaurants, 3 cities, 12 devs in 2 teams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Order-first, payment ledger with UNKNOWN, idempotency keys, circuit breaker, reconciliation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Extracting Payments, second provider, 2PC</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Challenge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Acquired company with its own systems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Anti-Corruption Layer module, ID mapping, synced catalogue, contract tests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Shared database, rewrite, payment merge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500" i="1" dirty="0">
                <a:solidFill>
                  <a:schemeClr val="tx2"/>
                </a:solidFill>
              </a:rPr>
              <a:t>Constant through every stage: one deployable, one PostgreSQL database, hard module boundaries, one folder per use case.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indent="0" marL="0">
              <a:buNone/>
            </a:pPr>
            <a:r>
              <a:rPr lang="en-US" sz="4000" b="1" dirty="0">
                <a:solidFill>
                  <a:schemeClr val="bg1"/>
                </a:solidFill>
              </a:rPr>
              <a:t>Question 1: Design the architecture</a:t>
            </a:r>
            <a:endParaRPr lang="en-US" sz="4000" dirty="0"/>
          </a:p>
        </p:txBody>
      </p:sp>
      <p:sp>
        <p:nvSpPr>
          <p:cNvPr id="3" name="Text 0"/>
          <p:cNvSpPr/>
          <p:nvPr>
            <p:ph idx="101" type="body" hasCustomPrompt="1"/>
          </p:nvPr>
        </p:nvSpPr>
        <p:spPr>
          <a:xfrm>
            <a:off x="731520" y="3611880"/>
            <a:ext cx="10698480" cy="1280160"/>
          </a:xfrm>
          <a:prstGeom prst="rect">
            <a:avLst/>
          </a:prstGeom>
          <a:noFill/>
          <a:ln/>
        </p:spPr>
        <p:txBody>
          <a:bodyPr wrap="square" lIns="0" tIns="0" rIns="0" bIns="0" rtlCol="0" anchor="t"/>
          <a:lstStyle/>
          <a:p>
            <a:pPr algn="ctr" indent="0" marL="0">
              <a:buNone/>
            </a:pPr>
            <a:r>
              <a:rPr lang="en-US" sz="2000" dirty="0">
                <a:solidFill>
                  <a:schemeClr val="accent5"/>
                </a:solidFill>
              </a:rPr>
              <a:t>1 restaurant  |  3 developers  |  no DevOps  |  very limited budget  |  prove the business model</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Q1 architecture: one app, eight modules, one database</a:t>
            </a:r>
            <a:endParaRPr lang="en-US" sz="3000" dirty="0"/>
          </a:p>
        </p:txBody>
      </p:sp>
      <p:pic>
        <p:nvPicPr>
          <p:cNvPr id="4" name="diagram Question1/diagrams/Q1-Architecture-page1.png" descr="Full-size diagram: FinalAnswers/Question1/diagrams/Q1-Architecture.drawio (page 1)">    </p:cNvPr>
          <p:cNvPicPr>
            <a:picLocks noChangeAspect="1"/>
          </p:cNvPicPr>
          <p:nvPr/>
        </p:nvPicPr>
        <p:blipFill>
          <a:blip r:embed="rId1"/>
          <a:stretch>
            <a:fillRect/>
          </a:stretch>
        </p:blipFill>
        <p:spPr>
          <a:xfrm>
            <a:off x="1625433" y="1188720"/>
            <a:ext cx="8910654" cy="4800600"/>
          </a:xfrm>
          <a:prstGeom prst="rect">
            <a:avLst/>
          </a:prstGeom>
        </p:spPr>
      </p:pic>
      <p:sp>
        <p:nvSpPr>
          <p:cNvPr id="5" name="diagram frame"/>
          <p:cNvSpPr/>
          <p:nvPr/>
        </p:nvSpPr>
        <p:spPr>
          <a:xfrm>
            <a:off x="1625433" y="1188720"/>
            <a:ext cx="8910654" cy="4800600"/>
          </a:xfrm>
          <a:prstGeom prst="rect">
            <a:avLst/>
          </a:prstGeom>
          <a:ln w="9525">
            <a:solidFill>
              <a:schemeClr val="tx1"/>
            </a:solidFill>
            <a:prstDash val="solid"/>
          </a:ln>
        </p:spPr>
      </p:sp>
      <p:sp>
        <p:nvSpPr>
          <p:cNvPr id="6" name="Text 2"/>
          <p:cNvSpPr txBox="1"/>
          <p:nvPr/>
        </p:nvSpPr>
        <p:spPr>
          <a:xfrm>
            <a:off x="548640" y="6062472"/>
            <a:ext cx="11064240" cy="274320"/>
          </a:xfrm>
          <a:prstGeom prst="rect">
            <a:avLst/>
          </a:prstGeom>
          <a:noFill/>
          <a:ln/>
        </p:spPr>
        <p:txBody>
          <a:bodyPr wrap="square" lIns="0" tIns="0" rIns="0" bIns="0" rtlCol="0" anchor="ctr"/>
          <a:lstStyle/>
          <a:p>
            <a:pPr algn="ctr" indent="0" marL="0">
              <a:buNone/>
            </a:pPr>
            <a:r>
              <a:rPr lang="en-US" sz="1100" i="1" dirty="0">
                <a:solidFill>
                  <a:schemeClr val="tx2"/>
                </a:solidFill>
              </a:rPr>
              <a:t>Full-size diagram: FinalAnswers/Question1/diagrams/Q1-Architecture.drawio (page 1)</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Each module owns its use cases and its data</a:t>
            </a:r>
            <a:endParaRPr lang="en-US" sz="3000" dirty="0"/>
          </a:p>
        </p:txBody>
      </p:sp>
      <p:sp>
        <p:nvSpPr>
          <p:cNvPr id="4" name="card Identity"/>
          <p:cNvSpPr/>
          <p:nvPr/>
        </p:nvSpPr>
        <p:spPr>
          <a:xfrm>
            <a:off x="548640" y="1280160"/>
            <a:ext cx="2606040" cy="2103120"/>
          </a:xfrm>
          <a:prstGeom prst="rect">
            <a:avLst/>
          </a:prstGeom>
          <a:solidFill>
            <a:schemeClr val="bg1"/>
          </a:solidFill>
          <a:ln w="12700">
            <a:solidFill>
              <a:schemeClr val="tx1"/>
            </a:solidFill>
            <a:prstDash val="solid"/>
          </a:ln>
        </p:spPr>
      </p:sp>
      <p:sp>
        <p:nvSpPr>
          <p:cNvPr id="5" name="Text 2"/>
          <p:cNvSpPr txBox="1"/>
          <p:nvPr/>
        </p:nvSpPr>
        <p:spPr>
          <a:xfrm>
            <a:off x="685800" y="1389888"/>
            <a:ext cx="2331720" cy="18836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Identity</a:t>
            </a:r>
            <a:endParaRPr lang="en-US" sz="2000" dirty="0"/>
          </a:p>
          <a:p>
            <a:pPr marL="177800" indent="-177800">
              <a:spcAft>
                <a:spcPts val="800"/>
              </a:spcAft>
              <a:buSzPct val="100000"/>
              <a:buChar char="•"/>
            </a:pPr>
            <a:r>
              <a:rPr lang="en-US" sz="1600" dirty="0">
                <a:solidFill>
                  <a:schemeClr val="tx1"/>
                </a:solidFill>
              </a:rPr>
              <a:t>RegisterCustomer, Login</a:t>
            </a:r>
            <a:endParaRPr lang="en-US" sz="2000" dirty="0"/>
          </a:p>
          <a:p>
            <a:pPr marL="177800" indent="-177800">
              <a:spcAft>
                <a:spcPts val="800"/>
              </a:spcAft>
              <a:buSzPct val="100000"/>
              <a:buChar char="•"/>
            </a:pPr>
            <a:r>
              <a:rPr lang="en-US" sz="1600" dirty="0">
                <a:solidFill>
                  <a:schemeClr val="tx1"/>
                </a:solidFill>
              </a:rPr>
              <a:t>Create staff / driver accounts</a:t>
            </a:r>
            <a:endParaRPr lang="en-US" sz="2000" dirty="0"/>
          </a:p>
          <a:p>
            <a:pPr marL="177800" indent="-177800">
              <a:spcAft>
                <a:spcPts val="800"/>
              </a:spcAft>
              <a:buSzPct val="100000"/>
              <a:buChar char="•"/>
            </a:pPr>
            <a:r>
              <a:rPr lang="en-US" sz="1600" dirty="0">
                <a:solidFill>
                  <a:schemeClr val="tx1"/>
                </a:solidFill>
              </a:rPr>
              <a:t>owns: identity</a:t>
            </a:r>
            <a:endParaRPr lang="en-US" sz="2000" dirty="0"/>
          </a:p>
        </p:txBody>
      </p:sp>
      <p:sp>
        <p:nvSpPr>
          <p:cNvPr id="6" name="card Customers"/>
          <p:cNvSpPr/>
          <p:nvPr/>
        </p:nvSpPr>
        <p:spPr>
          <a:xfrm>
            <a:off x="3383280" y="1280160"/>
            <a:ext cx="2606040" cy="2103120"/>
          </a:xfrm>
          <a:prstGeom prst="rect">
            <a:avLst/>
          </a:prstGeom>
          <a:solidFill>
            <a:schemeClr val="bg1"/>
          </a:solidFill>
          <a:ln w="12700">
            <a:solidFill>
              <a:schemeClr val="tx1"/>
            </a:solidFill>
            <a:prstDash val="solid"/>
          </a:ln>
        </p:spPr>
      </p:sp>
      <p:sp>
        <p:nvSpPr>
          <p:cNvPr id="7" name="Text 4"/>
          <p:cNvSpPr txBox="1"/>
          <p:nvPr/>
        </p:nvSpPr>
        <p:spPr>
          <a:xfrm>
            <a:off x="3520440" y="1389888"/>
            <a:ext cx="2331720" cy="18836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Customers</a:t>
            </a:r>
            <a:endParaRPr lang="en-US" sz="2000" dirty="0"/>
          </a:p>
          <a:p>
            <a:pPr marL="177800" indent="-177800">
              <a:spcAft>
                <a:spcPts val="800"/>
              </a:spcAft>
              <a:buSzPct val="100000"/>
              <a:buChar char="•"/>
            </a:pPr>
            <a:r>
              <a:rPr lang="en-US" sz="1600" dirty="0">
                <a:solidFill>
                  <a:schemeClr val="tx1"/>
                </a:solidFill>
              </a:rPr>
              <a:t>Profile, addresses</a:t>
            </a:r>
            <a:endParaRPr lang="en-US" sz="2000" dirty="0"/>
          </a:p>
          <a:p>
            <a:pPr marL="177800" indent="-177800">
              <a:spcAft>
                <a:spcPts val="800"/>
              </a:spcAft>
              <a:buSzPct val="100000"/>
              <a:buChar char="•"/>
            </a:pPr>
            <a:r>
              <a:rPr lang="en-US" sz="1600" dirty="0">
                <a:solidFill>
                  <a:schemeClr val="tx1"/>
                </a:solidFill>
              </a:rPr>
              <a:t>owns: customers</a:t>
            </a:r>
            <a:endParaRPr lang="en-US" sz="2000" dirty="0"/>
          </a:p>
        </p:txBody>
      </p:sp>
      <p:sp>
        <p:nvSpPr>
          <p:cNvPr id="8" name="card Restaurants (incl. menu)"/>
          <p:cNvSpPr/>
          <p:nvPr/>
        </p:nvSpPr>
        <p:spPr>
          <a:xfrm>
            <a:off x="6217920" y="1280160"/>
            <a:ext cx="2606040" cy="2103120"/>
          </a:xfrm>
          <a:prstGeom prst="rect">
            <a:avLst/>
          </a:prstGeom>
          <a:solidFill>
            <a:schemeClr val="bg1"/>
          </a:solidFill>
          <a:ln w="12700">
            <a:solidFill>
              <a:schemeClr val="tx1"/>
            </a:solidFill>
            <a:prstDash val="solid"/>
          </a:ln>
        </p:spPr>
      </p:sp>
      <p:sp>
        <p:nvSpPr>
          <p:cNvPr id="9" name="Text 6"/>
          <p:cNvSpPr txBox="1"/>
          <p:nvPr/>
        </p:nvSpPr>
        <p:spPr>
          <a:xfrm>
            <a:off x="6355080" y="1389888"/>
            <a:ext cx="2331720" cy="18836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Restaurants (incl. menu)</a:t>
            </a:r>
            <a:endParaRPr lang="en-US" sz="2000" dirty="0"/>
          </a:p>
          <a:p>
            <a:pPr marL="177800" indent="-177800">
              <a:spcAft>
                <a:spcPts val="800"/>
              </a:spcAft>
              <a:buSzPct val="100000"/>
              <a:buChar char="•"/>
            </a:pPr>
            <a:r>
              <a:rPr lang="en-US" sz="1600" dirty="0">
                <a:solidFill>
                  <a:schemeClr val="tx1"/>
                </a:solidFill>
              </a:rPr>
              <a:t>Browse, GetMenu</a:t>
            </a:r>
            <a:endParaRPr lang="en-US" sz="2000" dirty="0"/>
          </a:p>
          <a:p>
            <a:pPr marL="177800" indent="-177800">
              <a:spcAft>
                <a:spcPts val="800"/>
              </a:spcAft>
              <a:buSzPct val="100000"/>
              <a:buChar char="•"/>
            </a:pPr>
            <a:r>
              <a:rPr lang="en-US" sz="1600" dirty="0">
                <a:solidFill>
                  <a:schemeClr val="tx1"/>
                </a:solidFill>
              </a:rPr>
              <a:t>Manage menu, open/close</a:t>
            </a:r>
            <a:endParaRPr lang="en-US" sz="2000" dirty="0"/>
          </a:p>
          <a:p>
            <a:pPr marL="177800" indent="-177800">
              <a:spcAft>
                <a:spcPts val="800"/>
              </a:spcAft>
              <a:buSzPct val="100000"/>
              <a:buChar char="•"/>
            </a:pPr>
            <a:r>
              <a:rPr lang="en-US" sz="1600" dirty="0">
                <a:solidFill>
                  <a:schemeClr val="tx1"/>
                </a:solidFill>
              </a:rPr>
              <a:t>owns: restaurants</a:t>
            </a:r>
            <a:endParaRPr lang="en-US" sz="2000" dirty="0"/>
          </a:p>
        </p:txBody>
      </p:sp>
      <p:sp>
        <p:nvSpPr>
          <p:cNvPr id="10" name="card Ordering"/>
          <p:cNvSpPr/>
          <p:nvPr/>
        </p:nvSpPr>
        <p:spPr>
          <a:xfrm>
            <a:off x="9052560" y="1280160"/>
            <a:ext cx="2606040" cy="2103120"/>
          </a:xfrm>
          <a:prstGeom prst="rect">
            <a:avLst/>
          </a:prstGeom>
          <a:solidFill>
            <a:schemeClr val="bg1"/>
          </a:solidFill>
          <a:ln w="28575">
            <a:solidFill>
              <a:schemeClr val="tx1"/>
            </a:solidFill>
            <a:prstDash val="solid"/>
          </a:ln>
        </p:spPr>
      </p:sp>
      <p:sp>
        <p:nvSpPr>
          <p:cNvPr id="11" name="Text 8"/>
          <p:cNvSpPr txBox="1"/>
          <p:nvPr/>
        </p:nvSpPr>
        <p:spPr>
          <a:xfrm>
            <a:off x="9189720" y="1389888"/>
            <a:ext cx="2331720" cy="18836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Ordering</a:t>
            </a:r>
            <a:endParaRPr lang="en-US" sz="2000" dirty="0"/>
          </a:p>
          <a:p>
            <a:pPr marL="177800" indent="-177800">
              <a:spcAft>
                <a:spcPts val="800"/>
              </a:spcAft>
              <a:buSzPct val="100000"/>
              <a:buChar char="•"/>
            </a:pPr>
            <a:r>
              <a:rPr lang="en-US" sz="1600" dirty="0">
                <a:solidFill>
                  <a:schemeClr val="tx1"/>
                </a:solidFill>
              </a:rPr>
              <a:t>PlaceOrder, Accept/Reject</a:t>
            </a:r>
            <a:endParaRPr lang="en-US" sz="2000" dirty="0"/>
          </a:p>
          <a:p>
            <a:pPr marL="177800" indent="-177800">
              <a:spcAft>
                <a:spcPts val="800"/>
              </a:spcAft>
              <a:buSzPct val="100000"/>
              <a:buChar char="•"/>
            </a:pPr>
            <a:r>
              <a:rPr lang="en-US" sz="1600" dirty="0">
                <a:solidFill>
                  <a:schemeClr val="tx1"/>
                </a:solidFill>
              </a:rPr>
              <a:t>Status, Track, History</a:t>
            </a:r>
            <a:endParaRPr lang="en-US" sz="2000" dirty="0"/>
          </a:p>
          <a:p>
            <a:pPr marL="177800" indent="-177800">
              <a:spcAft>
                <a:spcPts val="800"/>
              </a:spcAft>
              <a:buSzPct val="100000"/>
              <a:buChar char="•"/>
            </a:pPr>
            <a:r>
              <a:rPr lang="en-US" sz="1600" dirty="0">
                <a:solidFill>
                  <a:schemeClr val="tx1"/>
                </a:solidFill>
              </a:rPr>
              <a:t>owns: ordering</a:t>
            </a:r>
            <a:endParaRPr lang="en-US" sz="2000" dirty="0"/>
          </a:p>
        </p:txBody>
      </p:sp>
      <p:sp>
        <p:nvSpPr>
          <p:cNvPr id="12" name="card Payments"/>
          <p:cNvSpPr/>
          <p:nvPr/>
        </p:nvSpPr>
        <p:spPr>
          <a:xfrm>
            <a:off x="548640" y="3611880"/>
            <a:ext cx="2606040" cy="2103120"/>
          </a:xfrm>
          <a:prstGeom prst="rect">
            <a:avLst/>
          </a:prstGeom>
          <a:solidFill>
            <a:schemeClr val="bg1"/>
          </a:solidFill>
          <a:ln w="12700">
            <a:solidFill>
              <a:schemeClr val="tx1"/>
            </a:solidFill>
            <a:prstDash val="solid"/>
          </a:ln>
        </p:spPr>
      </p:sp>
      <p:sp>
        <p:nvSpPr>
          <p:cNvPr id="13" name="Text 10"/>
          <p:cNvSpPr txBox="1"/>
          <p:nvPr/>
        </p:nvSpPr>
        <p:spPr>
          <a:xfrm>
            <a:off x="685800" y="3721608"/>
            <a:ext cx="2331720" cy="18836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Payments</a:t>
            </a:r>
            <a:endParaRPr lang="en-US" sz="2000" dirty="0"/>
          </a:p>
          <a:p>
            <a:pPr marL="177800" indent="-177800">
              <a:spcAft>
                <a:spcPts val="800"/>
              </a:spcAft>
              <a:buSzPct val="100000"/>
              <a:buChar char="•"/>
            </a:pPr>
            <a:r>
              <a:rPr lang="en-US" sz="1600" dirty="0">
                <a:solidFill>
                  <a:schemeClr val="tx1"/>
                </a:solidFill>
              </a:rPr>
              <a:t>Authorise, Capture, Void</a:t>
            </a:r>
            <a:endParaRPr lang="en-US" sz="2000" dirty="0"/>
          </a:p>
          <a:p>
            <a:pPr marL="177800" indent="-177800">
              <a:spcAft>
                <a:spcPts val="800"/>
              </a:spcAft>
              <a:buSzPct val="100000"/>
              <a:buChar char="•"/>
            </a:pPr>
            <a:r>
              <a:rPr lang="en-US" sz="1600" dirty="0">
                <a:solidFill>
                  <a:schemeClr val="tx1"/>
                </a:solidFill>
              </a:rPr>
              <a:t>Provider behind adapter</a:t>
            </a:r>
            <a:endParaRPr lang="en-US" sz="2000" dirty="0"/>
          </a:p>
          <a:p>
            <a:pPr marL="177800" indent="-177800">
              <a:spcAft>
                <a:spcPts val="800"/>
              </a:spcAft>
              <a:buSzPct val="100000"/>
              <a:buChar char="•"/>
            </a:pPr>
            <a:r>
              <a:rPr lang="en-US" sz="1600" dirty="0">
                <a:solidFill>
                  <a:schemeClr val="tx1"/>
                </a:solidFill>
              </a:rPr>
              <a:t>owns: payments</a:t>
            </a:r>
            <a:endParaRPr lang="en-US" sz="2000" dirty="0"/>
          </a:p>
        </p:txBody>
      </p:sp>
      <p:sp>
        <p:nvSpPr>
          <p:cNvPr id="14" name="card Delivery"/>
          <p:cNvSpPr/>
          <p:nvPr/>
        </p:nvSpPr>
        <p:spPr>
          <a:xfrm>
            <a:off x="3383280" y="3611880"/>
            <a:ext cx="2606040" cy="2103120"/>
          </a:xfrm>
          <a:prstGeom prst="rect">
            <a:avLst/>
          </a:prstGeom>
          <a:solidFill>
            <a:schemeClr val="bg1"/>
          </a:solidFill>
          <a:ln w="12700">
            <a:solidFill>
              <a:schemeClr val="tx1"/>
            </a:solidFill>
            <a:prstDash val="solid"/>
          </a:ln>
        </p:spPr>
      </p:sp>
      <p:sp>
        <p:nvSpPr>
          <p:cNvPr id="15" name="Text 12"/>
          <p:cNvSpPr txBox="1"/>
          <p:nvPr/>
        </p:nvSpPr>
        <p:spPr>
          <a:xfrm>
            <a:off x="3520440" y="3721608"/>
            <a:ext cx="2331720" cy="18836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Delivery</a:t>
            </a:r>
            <a:endParaRPr lang="en-US" sz="2000" dirty="0"/>
          </a:p>
          <a:p>
            <a:pPr marL="177800" indent="-177800">
              <a:spcAft>
                <a:spcPts val="800"/>
              </a:spcAft>
              <a:buSzPct val="100000"/>
              <a:buChar char="•"/>
            </a:pPr>
            <a:r>
              <a:rPr lang="en-US" sz="1600" dirty="0">
                <a:solidFill>
                  <a:schemeClr val="tx1"/>
                </a:solidFill>
              </a:rPr>
              <a:t>Shifts, delivery requests</a:t>
            </a:r>
            <a:endParaRPr lang="en-US" sz="2000" dirty="0"/>
          </a:p>
          <a:p>
            <a:pPr marL="177800" indent="-177800">
              <a:spcAft>
                <a:spcPts val="800"/>
              </a:spcAft>
              <a:buSzPct val="100000"/>
              <a:buChar char="•"/>
            </a:pPr>
            <a:r>
              <a:rPr lang="en-US" sz="1600" dirty="0">
                <a:solidFill>
                  <a:schemeClr val="tx1"/>
                </a:solidFill>
              </a:rPr>
              <a:t>Accept, pick up, deliver</a:t>
            </a:r>
            <a:endParaRPr lang="en-US" sz="2000" dirty="0"/>
          </a:p>
          <a:p>
            <a:pPr marL="177800" indent="-177800">
              <a:spcAft>
                <a:spcPts val="800"/>
              </a:spcAft>
              <a:buSzPct val="100000"/>
              <a:buChar char="•"/>
            </a:pPr>
            <a:r>
              <a:rPr lang="en-US" sz="1600" dirty="0">
                <a:solidFill>
                  <a:schemeClr val="tx1"/>
                </a:solidFill>
              </a:rPr>
              <a:t>owns: delivery</a:t>
            </a:r>
            <a:endParaRPr lang="en-US" sz="2000" dirty="0"/>
          </a:p>
        </p:txBody>
      </p:sp>
      <p:sp>
        <p:nvSpPr>
          <p:cNvPr id="16" name="card Notifications"/>
          <p:cNvSpPr/>
          <p:nvPr/>
        </p:nvSpPr>
        <p:spPr>
          <a:xfrm>
            <a:off x="6217920" y="3611880"/>
            <a:ext cx="2606040" cy="2103120"/>
          </a:xfrm>
          <a:prstGeom prst="rect">
            <a:avLst/>
          </a:prstGeom>
          <a:solidFill>
            <a:schemeClr val="bg1"/>
          </a:solidFill>
          <a:ln w="12700">
            <a:solidFill>
              <a:schemeClr val="tx1"/>
            </a:solidFill>
            <a:prstDash val="solid"/>
          </a:ln>
        </p:spPr>
      </p:sp>
      <p:sp>
        <p:nvSpPr>
          <p:cNvPr id="17" name="Text 14"/>
          <p:cNvSpPr txBox="1"/>
          <p:nvPr/>
        </p:nvSpPr>
        <p:spPr>
          <a:xfrm>
            <a:off x="6355080" y="3721608"/>
            <a:ext cx="2331720" cy="18836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Notifications</a:t>
            </a:r>
            <a:endParaRPr lang="en-US" sz="2000" dirty="0"/>
          </a:p>
          <a:p>
            <a:pPr marL="177800" indent="-177800">
              <a:spcAft>
                <a:spcPts val="800"/>
              </a:spcAft>
              <a:buSzPct val="100000"/>
              <a:buChar char="•"/>
            </a:pPr>
            <a:r>
              <a:rPr lang="en-US" sz="1600" dirty="0">
                <a:solidFill>
                  <a:schemeClr val="tx1"/>
                </a:solidFill>
              </a:rPr>
              <a:t>Push / email to users</a:t>
            </a:r>
            <a:endParaRPr lang="en-US" sz="2000" dirty="0"/>
          </a:p>
          <a:p>
            <a:pPr marL="177800" indent="-177800">
              <a:spcAft>
                <a:spcPts val="800"/>
              </a:spcAft>
              <a:buSzPct val="100000"/>
              <a:buChar char="•"/>
            </a:pPr>
            <a:r>
              <a:rPr lang="en-US" sz="1600" dirty="0">
                <a:solidFill>
                  <a:schemeClr val="tx1"/>
                </a:solidFill>
              </a:rPr>
              <a:t>owns: notification log</a:t>
            </a:r>
            <a:endParaRPr lang="en-US" sz="2000" dirty="0"/>
          </a:p>
        </p:txBody>
      </p:sp>
      <p:sp>
        <p:nvSpPr>
          <p:cNvPr id="18" name="card Reporting"/>
          <p:cNvSpPr/>
          <p:nvPr/>
        </p:nvSpPr>
        <p:spPr>
          <a:xfrm>
            <a:off x="9052560" y="3611880"/>
            <a:ext cx="2606040" cy="2103120"/>
          </a:xfrm>
          <a:prstGeom prst="rect">
            <a:avLst/>
          </a:prstGeom>
          <a:solidFill>
            <a:schemeClr val="bg1"/>
          </a:solidFill>
          <a:ln w="12700">
            <a:solidFill>
              <a:schemeClr val="tx1"/>
            </a:solidFill>
            <a:prstDash val="solid"/>
          </a:ln>
        </p:spPr>
      </p:sp>
      <p:sp>
        <p:nvSpPr>
          <p:cNvPr id="19" name="Text 16"/>
          <p:cNvSpPr txBox="1"/>
          <p:nvPr/>
        </p:nvSpPr>
        <p:spPr>
          <a:xfrm>
            <a:off x="9189720" y="3721608"/>
            <a:ext cx="2331720" cy="18836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Reporting</a:t>
            </a:r>
            <a:endParaRPr lang="en-US" sz="2000" dirty="0"/>
          </a:p>
          <a:p>
            <a:pPr marL="177800" indent="-177800">
              <a:spcAft>
                <a:spcPts val="800"/>
              </a:spcAft>
              <a:buSzPct val="100000"/>
              <a:buChar char="•"/>
            </a:pPr>
            <a:r>
              <a:rPr lang="en-US" sz="1600" dirty="0">
                <a:solidFill>
                  <a:schemeClr val="tx1"/>
                </a:solidFill>
              </a:rPr>
              <a:t>Orders, revenue, deliveries</a:t>
            </a:r>
            <a:endParaRPr lang="en-US" sz="2000" dirty="0"/>
          </a:p>
          <a:p>
            <a:pPr marL="177800" indent="-177800">
              <a:spcAft>
                <a:spcPts val="800"/>
              </a:spcAft>
              <a:buSzPct val="100000"/>
              <a:buChar char="•"/>
            </a:pPr>
            <a:r>
              <a:rPr lang="en-US" sz="1600" dirty="0">
                <a:solidFill>
                  <a:schemeClr val="tx1"/>
                </a:solidFill>
              </a:rPr>
              <a:t>owns: nothing (read-only)</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Data, communication and boundaries</a:t>
            </a:r>
            <a:endParaRPr lang="en-US" sz="3000" dirty="0"/>
          </a:p>
        </p:txBody>
      </p:sp>
      <p:sp>
        <p:nvSpPr>
          <p:cNvPr id="4" name="card Where data is stored"/>
          <p:cNvSpPr/>
          <p:nvPr/>
        </p:nvSpPr>
        <p:spPr>
          <a:xfrm>
            <a:off x="548640" y="1280160"/>
            <a:ext cx="3520440" cy="4846320"/>
          </a:xfrm>
          <a:prstGeom prst="rect">
            <a:avLst/>
          </a:prstGeom>
          <a:solidFill>
            <a:schemeClr val="bg1"/>
          </a:solidFill>
          <a:ln w="12700">
            <a:solidFill>
              <a:schemeClr val="tx1"/>
            </a:solidFill>
            <a:prstDash val="solid"/>
          </a:ln>
        </p:spPr>
      </p:sp>
      <p:sp>
        <p:nvSpPr>
          <p:cNvPr id="5" name="Text 2"/>
          <p:cNvSpPr txBox="1"/>
          <p:nvPr/>
        </p:nvSpPr>
        <p:spPr>
          <a:xfrm>
            <a:off x="685800" y="1389888"/>
            <a:ext cx="324612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Where data is stored</a:t>
            </a:r>
            <a:endParaRPr lang="en-US" sz="2000" dirty="0"/>
          </a:p>
          <a:p>
            <a:pPr marL="177800" indent="-177800">
              <a:spcAft>
                <a:spcPts val="800"/>
              </a:spcAft>
              <a:buSzPct val="100000"/>
              <a:buChar char="•"/>
            </a:pPr>
            <a:r>
              <a:rPr lang="en-US" sz="1800" dirty="0">
                <a:solidFill>
                  <a:schemeClr val="tx1"/>
                </a:solidFill>
              </a:rPr>
              <a:t>One managed PostgreSQL, one schema per module</a:t>
            </a:r>
            <a:endParaRPr lang="en-US" sz="2000" dirty="0"/>
          </a:p>
          <a:p>
            <a:pPr marL="177800" indent="-177800">
              <a:spcAft>
                <a:spcPts val="800"/>
              </a:spcAft>
              <a:buSzPct val="100000"/>
              <a:buChar char="•"/>
            </a:pPr>
            <a:r>
              <a:rPr lang="en-US" sz="1800" dirty="0">
                <a:solidFill>
                  <a:schemeClr val="tx1"/>
                </a:solidFill>
              </a:rPr>
              <a:t>Only the owning module writes its schema</a:t>
            </a:r>
            <a:endParaRPr lang="en-US" sz="2000" dirty="0"/>
          </a:p>
          <a:p>
            <a:pPr marL="177800" indent="-177800">
              <a:spcAft>
                <a:spcPts val="800"/>
              </a:spcAft>
              <a:buSzPct val="100000"/>
              <a:buChar char="•"/>
            </a:pPr>
            <a:r>
              <a:rPr lang="en-US" sz="1800" dirty="0">
                <a:solidFill>
                  <a:schemeClr val="tx1"/>
                </a:solidFill>
              </a:rPr>
              <a:t>IDs only across modules; no cross-schema foreign keys</a:t>
            </a:r>
            <a:endParaRPr lang="en-US" sz="2000" dirty="0"/>
          </a:p>
          <a:p>
            <a:pPr marL="177800" indent="-177800">
              <a:spcAft>
                <a:spcPts val="800"/>
              </a:spcAft>
              <a:buSzPct val="100000"/>
              <a:buChar char="•"/>
            </a:pPr>
            <a:r>
              <a:rPr lang="en-US" sz="1800" dirty="0">
                <a:solidFill>
                  <a:schemeClr val="tx1"/>
                </a:solidFill>
              </a:rPr>
              <a:t>Order lines keep a price snapshot</a:t>
            </a:r>
            <a:endParaRPr lang="en-US" sz="2000" dirty="0"/>
          </a:p>
          <a:p>
            <a:pPr marL="177800" indent="-177800">
              <a:spcAft>
                <a:spcPts val="800"/>
              </a:spcAft>
              <a:buSzPct val="100000"/>
              <a:buChar char="•"/>
            </a:pPr>
            <a:r>
              <a:rPr lang="en-US" sz="1800" dirty="0">
                <a:solidFill>
                  <a:schemeClr val="tx1"/>
                </a:solidFill>
              </a:rPr>
              <a:t>Card numbers never touch our servers</a:t>
            </a:r>
            <a:endParaRPr lang="en-US" sz="2000" dirty="0"/>
          </a:p>
        </p:txBody>
      </p:sp>
      <p:sp>
        <p:nvSpPr>
          <p:cNvPr id="6" name="card How components communicate"/>
          <p:cNvSpPr/>
          <p:nvPr/>
        </p:nvSpPr>
        <p:spPr>
          <a:xfrm>
            <a:off x="4315968" y="1280160"/>
            <a:ext cx="3520440" cy="4846320"/>
          </a:xfrm>
          <a:prstGeom prst="rect">
            <a:avLst/>
          </a:prstGeom>
          <a:solidFill>
            <a:schemeClr val="bg1"/>
          </a:solidFill>
          <a:ln w="12700">
            <a:solidFill>
              <a:schemeClr val="tx1"/>
            </a:solidFill>
            <a:prstDash val="solid"/>
          </a:ln>
        </p:spPr>
      </p:sp>
      <p:sp>
        <p:nvSpPr>
          <p:cNvPr id="7" name="Text 4"/>
          <p:cNvSpPr txBox="1"/>
          <p:nvPr/>
        </p:nvSpPr>
        <p:spPr>
          <a:xfrm>
            <a:off x="4453128" y="1389888"/>
            <a:ext cx="324612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How components communicate</a:t>
            </a:r>
            <a:endParaRPr lang="en-US" sz="2000" dirty="0"/>
          </a:p>
          <a:p>
            <a:pPr marL="177800" indent="-177800">
              <a:spcAft>
                <a:spcPts val="800"/>
              </a:spcAft>
              <a:buSzPct val="100000"/>
              <a:buChar char="•"/>
            </a:pPr>
            <a:r>
              <a:rPr lang="en-US" sz="1800" dirty="0">
                <a:solidFill>
                  <a:schemeClr val="tx1"/>
                </a:solidFill>
              </a:rPr>
              <a:t>Client to API: HTTPS + JSON, polling for status</a:t>
            </a:r>
            <a:endParaRPr lang="en-US" sz="2000" dirty="0"/>
          </a:p>
          <a:p>
            <a:pPr marL="177800" indent="-177800">
              <a:spcAft>
                <a:spcPts val="800"/>
              </a:spcAft>
              <a:buSzPct val="100000"/>
              <a:buChar char="•"/>
            </a:pPr>
            <a:r>
              <a:rPr lang="en-US" sz="1800" dirty="0">
                <a:solidFill>
                  <a:schemeClr val="tx1"/>
                </a:solidFill>
              </a:rPr>
              <a:t>Commands: direct call to a module's public API</a:t>
            </a:r>
            <a:endParaRPr lang="en-US" sz="2000" dirty="0"/>
          </a:p>
          <a:p>
            <a:pPr marL="177800" indent="-177800">
              <a:spcAft>
                <a:spcPts val="800"/>
              </a:spcAft>
              <a:buSzPct val="100000"/>
              <a:buChar char="•"/>
            </a:pPr>
            <a:r>
              <a:rPr lang="en-US" sz="1800" dirty="0">
                <a:solidFill>
                  <a:schemeClr val="tx1"/>
                </a:solidFill>
              </a:rPr>
              <a:t>Facts: in-process events (e.g. DeliveryCompleted)</a:t>
            </a:r>
            <a:endParaRPr lang="en-US" sz="2000" dirty="0"/>
          </a:p>
          <a:p>
            <a:pPr marL="177800" indent="-177800">
              <a:spcAft>
                <a:spcPts val="800"/>
              </a:spcAft>
              <a:buSzPct val="100000"/>
              <a:buChar char="•"/>
            </a:pPr>
            <a:r>
              <a:rPr lang="en-US" sz="1800" dirty="0">
                <a:solidFill>
                  <a:schemeClr val="tx1"/>
                </a:solidFill>
              </a:rPr>
              <a:t>External systems: through adapters with timeouts</a:t>
            </a:r>
            <a:endParaRPr lang="en-US" sz="2000" dirty="0"/>
          </a:p>
          <a:p>
            <a:pPr marL="177800" indent="-177800">
              <a:spcAft>
                <a:spcPts val="800"/>
              </a:spcAft>
              <a:buSzPct val="100000"/>
              <a:buChar char="•"/>
            </a:pPr>
            <a:r>
              <a:rPr lang="en-US" sz="1800" dirty="0">
                <a:solidFill>
                  <a:schemeClr val="tx1"/>
                </a:solidFill>
              </a:rPr>
              <a:t>Architecture test fails the build on illegal imports</a:t>
            </a:r>
            <a:endParaRPr lang="en-US" sz="2000" dirty="0"/>
          </a:p>
        </p:txBody>
      </p:sp>
      <p:sp>
        <p:nvSpPr>
          <p:cNvPr id="8" name="card Major boundaries"/>
          <p:cNvSpPr/>
          <p:nvPr/>
        </p:nvSpPr>
        <p:spPr>
          <a:xfrm>
            <a:off x="8092440" y="1280160"/>
            <a:ext cx="3520440" cy="4846320"/>
          </a:xfrm>
          <a:prstGeom prst="rect">
            <a:avLst/>
          </a:prstGeom>
          <a:solidFill>
            <a:schemeClr val="bg1"/>
          </a:solidFill>
          <a:ln w="12700">
            <a:solidFill>
              <a:schemeClr val="tx1"/>
            </a:solidFill>
            <a:prstDash val="solid"/>
          </a:ln>
        </p:spPr>
      </p:sp>
      <p:sp>
        <p:nvSpPr>
          <p:cNvPr id="9" name="Text 6"/>
          <p:cNvSpPr txBox="1"/>
          <p:nvPr/>
        </p:nvSpPr>
        <p:spPr>
          <a:xfrm>
            <a:off x="8229600" y="1389888"/>
            <a:ext cx="324612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Major boundaries</a:t>
            </a:r>
            <a:endParaRPr lang="en-US" sz="2000" dirty="0"/>
          </a:p>
          <a:p>
            <a:pPr marL="177800" indent="-177800">
              <a:spcAft>
                <a:spcPts val="800"/>
              </a:spcAft>
              <a:buSzPct val="100000"/>
              <a:buChar char="•"/>
            </a:pPr>
            <a:r>
              <a:rPr lang="en-US" sz="1800" dirty="0">
                <a:solidFill>
                  <a:schemeClr val="tx1"/>
                </a:solidFill>
              </a:rPr>
              <a:t>Deployment: one deployable app</a:t>
            </a:r>
            <a:endParaRPr lang="en-US" sz="2000" dirty="0"/>
          </a:p>
          <a:p>
            <a:pPr marL="177800" indent="-177800">
              <a:spcAft>
                <a:spcPts val="800"/>
              </a:spcAft>
              <a:buSzPct val="100000"/>
              <a:buChar char="•"/>
            </a:pPr>
            <a:r>
              <a:rPr lang="en-US" sz="1800" dirty="0">
                <a:solidFill>
                  <a:schemeClr val="tx1"/>
                </a:solidFill>
              </a:rPr>
              <a:t>Modules: code + schema + public API</a:t>
            </a:r>
            <a:endParaRPr lang="en-US" sz="2000" dirty="0"/>
          </a:p>
          <a:p>
            <a:pPr marL="177800" indent="-177800">
              <a:spcAft>
                <a:spcPts val="800"/>
              </a:spcAft>
              <a:buSzPct val="100000"/>
              <a:buChar char="•"/>
            </a:pPr>
            <a:r>
              <a:rPr lang="en-US" sz="1800" dirty="0">
                <a:solidFill>
                  <a:schemeClr val="tx1"/>
                </a:solidFill>
              </a:rPr>
              <a:t>Slices: one folder per use case</a:t>
            </a:r>
            <a:endParaRPr lang="en-US" sz="2000" dirty="0"/>
          </a:p>
          <a:p>
            <a:pPr marL="177800" indent="-177800">
              <a:spcAft>
                <a:spcPts val="800"/>
              </a:spcAft>
              <a:buSzPct val="100000"/>
              <a:buChar char="•"/>
            </a:pPr>
            <a:r>
              <a:rPr lang="en-US" sz="1800" dirty="0">
                <a:solidFill>
                  <a:schemeClr val="tx1"/>
                </a:solidFill>
              </a:rPr>
              <a:t>External: our model vs the provider's</a:t>
            </a:r>
            <a:endParaRPr lang="en-US" sz="2000" dirty="0"/>
          </a:p>
          <a:p>
            <a:pPr marL="177800" indent="-177800">
              <a:spcAft>
                <a:spcPts val="800"/>
              </a:spcAft>
              <a:buSzPct val="100000"/>
              <a:buChar char="•"/>
            </a:pPr>
            <a:r>
              <a:rPr lang="en-US" sz="1800" dirty="0">
                <a:solidFill>
                  <a:schemeClr val="tx1"/>
                </a:solidFill>
              </a:rPr>
              <a:t>Trust: client never decides prices or roles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Inside a module: vertical slices instead of layers</a:t>
            </a:r>
            <a:endParaRPr lang="en-US" sz="3000" dirty="0"/>
          </a:p>
        </p:txBody>
      </p:sp>
      <p:pic>
        <p:nvPicPr>
          <p:cNvPr id="4" name="diagram Question1/diagrams/Q1-Architecture-page2.png" descr="Modules cut the system by business capability; slices cut each module by use case">    </p:cNvPr>
          <p:cNvPicPr>
            <a:picLocks noChangeAspect="1"/>
          </p:cNvPicPr>
          <p:nvPr/>
        </p:nvPicPr>
        <p:blipFill>
          <a:blip r:embed="rId1"/>
          <a:stretch>
            <a:fillRect/>
          </a:stretch>
        </p:blipFill>
        <p:spPr>
          <a:xfrm>
            <a:off x="1666661" y="1188720"/>
            <a:ext cx="8828198" cy="4800600"/>
          </a:xfrm>
          <a:prstGeom prst="rect">
            <a:avLst/>
          </a:prstGeom>
        </p:spPr>
      </p:pic>
      <p:sp>
        <p:nvSpPr>
          <p:cNvPr id="5" name="diagram frame"/>
          <p:cNvSpPr/>
          <p:nvPr/>
        </p:nvSpPr>
        <p:spPr>
          <a:xfrm>
            <a:off x="1666661" y="1188720"/>
            <a:ext cx="8828198" cy="4800600"/>
          </a:xfrm>
          <a:prstGeom prst="rect">
            <a:avLst/>
          </a:prstGeom>
          <a:ln w="9525">
            <a:solidFill>
              <a:schemeClr val="tx1"/>
            </a:solidFill>
            <a:prstDash val="solid"/>
          </a:ln>
        </p:spPr>
      </p:sp>
      <p:sp>
        <p:nvSpPr>
          <p:cNvPr id="6" name="Text 2"/>
          <p:cNvSpPr txBox="1"/>
          <p:nvPr/>
        </p:nvSpPr>
        <p:spPr>
          <a:xfrm>
            <a:off x="548640" y="6062472"/>
            <a:ext cx="11064240" cy="274320"/>
          </a:xfrm>
          <a:prstGeom prst="rect">
            <a:avLst/>
          </a:prstGeom>
          <a:noFill/>
          <a:ln/>
        </p:spPr>
        <p:txBody>
          <a:bodyPr wrap="square" lIns="0" tIns="0" rIns="0" bIns="0" rtlCol="0" anchor="ctr"/>
          <a:lstStyle/>
          <a:p>
            <a:pPr algn="ctr" indent="0" marL="0">
              <a:buNone/>
            </a:pPr>
            <a:r>
              <a:rPr lang="en-US" sz="1100" i="1" dirty="0">
                <a:solidFill>
                  <a:schemeClr val="tx2"/>
                </a:solidFill>
              </a:rPr>
              <a:t>Modules cut the system by business capability; slices cut each module by use case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Three important architectural decisions</a:t>
            </a:r>
            <a:endParaRPr lang="en-US" sz="3000" dirty="0"/>
          </a:p>
        </p:txBody>
      </p:sp>
      <p:sp>
        <p:nvSpPr>
          <p:cNvPr id="4" name="card 1  Modular monolith"/>
          <p:cNvSpPr/>
          <p:nvPr/>
        </p:nvSpPr>
        <p:spPr>
          <a:xfrm>
            <a:off x="548640" y="1280160"/>
            <a:ext cx="3520440" cy="4206240"/>
          </a:xfrm>
          <a:prstGeom prst="rect">
            <a:avLst/>
          </a:prstGeom>
          <a:solidFill>
            <a:schemeClr val="bg1"/>
          </a:solidFill>
          <a:ln w="12700">
            <a:solidFill>
              <a:schemeClr val="tx1"/>
            </a:solidFill>
            <a:prstDash val="solid"/>
          </a:ln>
        </p:spPr>
      </p:sp>
      <p:sp>
        <p:nvSpPr>
          <p:cNvPr id="5" name="Text 2"/>
          <p:cNvSpPr txBox="1"/>
          <p:nvPr/>
        </p:nvSpPr>
        <p:spPr>
          <a:xfrm>
            <a:off x="685800" y="1389888"/>
            <a:ext cx="3246120" cy="398678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1  Modular monolith</a:t>
            </a:r>
            <a:endParaRPr lang="en-US" sz="2000" dirty="0"/>
          </a:p>
          <a:p>
            <a:pPr marL="177800" indent="-177800">
              <a:spcAft>
                <a:spcPts val="800"/>
              </a:spcAft>
              <a:buSzPct val="100000"/>
              <a:buChar char="•"/>
            </a:pPr>
            <a:r>
              <a:rPr lang="en-US" sz="1800" dirty="0">
                <a:solidFill>
                  <a:schemeClr val="tx1"/>
                </a:solidFill>
              </a:rPr>
              <a:t>One deployable, one database, schema per module</a:t>
            </a:r>
            <a:endParaRPr lang="en-US" sz="2000" dirty="0"/>
          </a:p>
          <a:p>
            <a:pPr marL="177800" indent="-177800">
              <a:spcAft>
                <a:spcPts val="800"/>
              </a:spcAft>
              <a:buSzPct val="100000"/>
              <a:buChar char="•"/>
            </a:pPr>
            <a:r>
              <a:rPr lang="en-US" sz="1800" dirty="0">
                <a:solidFill>
                  <a:schemeClr val="tx1"/>
                </a:solidFill>
              </a:rPr>
              <a:t>Why: 3 devs, no DevOps, tiny budget</a:t>
            </a:r>
            <a:endParaRPr lang="en-US" sz="2000" dirty="0"/>
          </a:p>
          <a:p>
            <a:pPr marL="177800" indent="-177800">
              <a:spcAft>
                <a:spcPts val="800"/>
              </a:spcAft>
              <a:buSzPct val="100000"/>
              <a:buChar char="•"/>
            </a:pPr>
            <a:r>
              <a:rPr lang="en-US" sz="1800" dirty="0">
                <a:solidFill>
                  <a:schemeClr val="tx1"/>
                </a:solidFill>
              </a:rPr>
              <a:t>Rejected: microservices, unstructured monolith</a:t>
            </a:r>
            <a:endParaRPr lang="en-US" sz="2000" dirty="0"/>
          </a:p>
        </p:txBody>
      </p:sp>
      <p:sp>
        <p:nvSpPr>
          <p:cNvPr id="6" name="card 2  Vertical slices inside modules"/>
          <p:cNvSpPr/>
          <p:nvPr/>
        </p:nvSpPr>
        <p:spPr>
          <a:xfrm>
            <a:off x="4315968" y="1280160"/>
            <a:ext cx="3520440" cy="4206240"/>
          </a:xfrm>
          <a:prstGeom prst="rect">
            <a:avLst/>
          </a:prstGeom>
          <a:solidFill>
            <a:schemeClr val="bg1"/>
          </a:solidFill>
          <a:ln w="12700">
            <a:solidFill>
              <a:schemeClr val="tx1"/>
            </a:solidFill>
            <a:prstDash val="solid"/>
          </a:ln>
        </p:spPr>
      </p:sp>
      <p:sp>
        <p:nvSpPr>
          <p:cNvPr id="7" name="Text 4"/>
          <p:cNvSpPr txBox="1"/>
          <p:nvPr/>
        </p:nvSpPr>
        <p:spPr>
          <a:xfrm>
            <a:off x="4453128" y="1389888"/>
            <a:ext cx="3246120" cy="398678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2  Vertical slices inside modules</a:t>
            </a:r>
            <a:endParaRPr lang="en-US" sz="2000" dirty="0"/>
          </a:p>
          <a:p>
            <a:pPr marL="177800" indent="-177800">
              <a:spcAft>
                <a:spcPts val="800"/>
              </a:spcAft>
              <a:buSzPct val="100000"/>
              <a:buChar char="•"/>
            </a:pPr>
            <a:r>
              <a:rPr lang="en-US" sz="1800" dirty="0">
                <a:solidFill>
                  <a:schemeClr val="tx1"/>
                </a:solidFill>
              </a:rPr>
              <a:t>One folder per use case + small shared domain</a:t>
            </a:r>
            <a:endParaRPr lang="en-US" sz="2000" dirty="0"/>
          </a:p>
          <a:p>
            <a:pPr marL="177800" indent="-177800">
              <a:spcAft>
                <a:spcPts val="800"/>
              </a:spcAft>
              <a:buSzPct val="100000"/>
              <a:buChar char="•"/>
            </a:pPr>
            <a:r>
              <a:rPr lang="en-US" sz="1800" dirty="0">
                <a:solidFill>
                  <a:schemeClr val="tx1"/>
                </a:solidFill>
              </a:rPr>
              <a:t>Why: features change in one place, low ceremony</a:t>
            </a:r>
            <a:endParaRPr lang="en-US" sz="2000" dirty="0"/>
          </a:p>
          <a:p>
            <a:pPr marL="177800" indent="-177800">
              <a:spcAft>
                <a:spcPts val="800"/>
              </a:spcAft>
              <a:buSzPct val="100000"/>
              <a:buChar char="•"/>
            </a:pPr>
            <a:r>
              <a:rPr lang="en-US" sz="1800" dirty="0">
                <a:solidFill>
                  <a:schemeClr val="tx1"/>
                </a:solidFill>
              </a:rPr>
              <a:t>Rejected: layered / Clean everywhere</a:t>
            </a:r>
            <a:endParaRPr lang="en-US" sz="2000" dirty="0"/>
          </a:p>
        </p:txBody>
      </p:sp>
      <p:sp>
        <p:nvSpPr>
          <p:cNvPr id="8" name="card 3  Authorise, then capture"/>
          <p:cNvSpPr/>
          <p:nvPr/>
        </p:nvSpPr>
        <p:spPr>
          <a:xfrm>
            <a:off x="8083296" y="1280160"/>
            <a:ext cx="3520440" cy="4206240"/>
          </a:xfrm>
          <a:prstGeom prst="rect">
            <a:avLst/>
          </a:prstGeom>
          <a:solidFill>
            <a:schemeClr val="bg1"/>
          </a:solidFill>
          <a:ln w="12700">
            <a:solidFill>
              <a:schemeClr val="tx1"/>
            </a:solidFill>
            <a:prstDash val="solid"/>
          </a:ln>
        </p:spPr>
      </p:sp>
      <p:sp>
        <p:nvSpPr>
          <p:cNvPr id="9" name="Text 6"/>
          <p:cNvSpPr txBox="1"/>
          <p:nvPr/>
        </p:nvSpPr>
        <p:spPr>
          <a:xfrm>
            <a:off x="8220456" y="1389888"/>
            <a:ext cx="3246120" cy="398678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3  Authorise, then capture</a:t>
            </a:r>
            <a:endParaRPr lang="en-US" sz="2000" dirty="0"/>
          </a:p>
          <a:p>
            <a:pPr marL="177800" indent="-177800">
              <a:spcAft>
                <a:spcPts val="800"/>
              </a:spcAft>
              <a:buSzPct val="100000"/>
              <a:buChar char="•"/>
            </a:pPr>
            <a:r>
              <a:rPr lang="en-US" sz="1800" dirty="0">
                <a:solidFill>
                  <a:schemeClr val="tx1"/>
                </a:solidFill>
              </a:rPr>
              <a:t>Hold at checkout, capture on accept, void on reject</a:t>
            </a:r>
            <a:endParaRPr lang="en-US" sz="2000" dirty="0"/>
          </a:p>
          <a:p>
            <a:pPr marL="177800" indent="-177800">
              <a:spcAft>
                <a:spcPts val="800"/>
              </a:spcAft>
              <a:buSzPct val="100000"/>
              <a:buChar char="•"/>
            </a:pPr>
            <a:r>
              <a:rPr lang="en-US" sz="1800" dirty="0">
                <a:solidFill>
                  <a:schemeClr val="tx1"/>
                </a:solidFill>
              </a:rPr>
              <a:t>Why: no refunds for rejected orders</a:t>
            </a:r>
            <a:endParaRPr lang="en-US" sz="2000" dirty="0"/>
          </a:p>
          <a:p>
            <a:pPr marL="177800" indent="-177800">
              <a:spcAft>
                <a:spcPts val="800"/>
              </a:spcAft>
              <a:buSzPct val="100000"/>
              <a:buChar char="•"/>
            </a:pPr>
            <a:r>
              <a:rPr lang="en-US" sz="1800" dirty="0">
                <a:solidFill>
                  <a:schemeClr val="tx1"/>
                </a:solidFill>
              </a:rPr>
              <a:t>Provider behind an adapter; hosted card fields</a:t>
            </a:r>
            <a:endParaRPr lang="en-US" sz="2000" dirty="0"/>
          </a:p>
        </p:txBody>
      </p:sp>
      <p:sp>
        <p:nvSpPr>
          <p:cNvPr id="10" name="Text 7"/>
          <p:cNvSpPr txBox="1"/>
          <p:nvPr/>
        </p:nvSpPr>
        <p:spPr>
          <a:xfrm>
            <a:off x="548640" y="5715000"/>
            <a:ext cx="11064240" cy="411480"/>
          </a:xfrm>
          <a:prstGeom prst="rect">
            <a:avLst/>
          </a:prstGeom>
          <a:noFill/>
          <a:ln/>
        </p:spPr>
        <p:txBody>
          <a:bodyPr wrap="square" lIns="0" tIns="0" rIns="0" bIns="0" rtlCol="0" anchor="ctr"/>
          <a:lstStyle/>
          <a:p>
            <a:pPr indent="0" marL="0">
              <a:buNone/>
            </a:pPr>
            <a:r>
              <a:rPr lang="en-US" sz="1500" i="1" dirty="0">
                <a:solidFill>
                  <a:schemeClr val="tx2"/>
                </a:solidFill>
              </a:rPr>
              <a:t>Also recorded: drivers belong to restaurants, polling over WebSockets, managed PaaS hosting, in-process events.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Three risks, and two things we chose not to do</a:t>
            </a:r>
            <a:endParaRPr lang="en-US" sz="3000" dirty="0"/>
          </a:p>
        </p:txBody>
      </p:sp>
      <p:sp>
        <p:nvSpPr>
          <p:cNvPr id="4" name="card Risks we accept"/>
          <p:cNvSpPr/>
          <p:nvPr/>
        </p:nvSpPr>
        <p:spPr>
          <a:xfrm>
            <a:off x="548640" y="1280160"/>
            <a:ext cx="6035040" cy="4846320"/>
          </a:xfrm>
          <a:prstGeom prst="rect">
            <a:avLst/>
          </a:prstGeom>
          <a:solidFill>
            <a:schemeClr val="bg1"/>
          </a:solidFill>
          <a:ln w="12700">
            <a:solidFill>
              <a:schemeClr val="tx1"/>
            </a:solidFill>
            <a:prstDash val="solid"/>
          </a:ln>
        </p:spPr>
      </p:sp>
      <p:sp>
        <p:nvSpPr>
          <p:cNvPr id="5" name="Text 2"/>
          <p:cNvSpPr txBox="1"/>
          <p:nvPr/>
        </p:nvSpPr>
        <p:spPr>
          <a:xfrm>
            <a:off x="685800" y="1389888"/>
            <a:ext cx="576072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Risks we accept</a:t>
            </a:r>
            <a:endParaRPr lang="en-US" sz="2000" dirty="0"/>
          </a:p>
          <a:p>
            <a:pPr marL="177800" indent="-177800">
              <a:spcAft>
                <a:spcPts val="800"/>
              </a:spcAft>
              <a:buSzPct val="100000"/>
              <a:buChar char="•"/>
            </a:pPr>
            <a:r>
              <a:rPr lang="en-US" sz="1800" dirty="0">
                <a:solidFill>
                  <a:schemeClr val="tx1"/>
                </a:solidFill>
              </a:rPr>
              <a:t>Boundary erosion: a shared database makes "just one JOIN" easy. Mitigated by schemas, public APIs, architecture tests</a:t>
            </a:r>
            <a:endParaRPr lang="en-US" sz="2000" dirty="0"/>
          </a:p>
          <a:p>
            <a:pPr marL="177800" indent="-177800">
              <a:spcAft>
                <a:spcPts val="800"/>
              </a:spcAft>
              <a:buSzPct val="100000"/>
              <a:buChar char="•"/>
            </a:pPr>
            <a:r>
              <a:rPr lang="en-US" sz="1800" dirty="0">
                <a:solidFill>
                  <a:schemeClr val="tx1"/>
                </a:solidFill>
              </a:rPr>
              <a:t>Payment provider on the order path: a timeout may hide a successful hold. Fixed by hand at this scale (becomes Q3)</a:t>
            </a:r>
            <a:endParaRPr lang="en-US" sz="2000" dirty="0"/>
          </a:p>
          <a:p>
            <a:pPr marL="177800" indent="-177800">
              <a:spcAft>
                <a:spcPts val="800"/>
              </a:spcAft>
              <a:buSzPct val="100000"/>
              <a:buChar char="•"/>
            </a:pPr>
            <a:r>
              <a:rPr lang="en-US" sz="1800" dirty="0">
                <a:solidFill>
                  <a:schemeClr val="tx1"/>
                </a:solidFill>
              </a:rPr>
              <a:t>One process, one database: one heavy query or slow call slows everything (becomes Q2)</a:t>
            </a:r>
            <a:endParaRPr lang="en-US" sz="2000" dirty="0"/>
          </a:p>
        </p:txBody>
      </p:sp>
      <p:sp>
        <p:nvSpPr>
          <p:cNvPr id="6" name="card Not done 1: microservices or a broker"/>
          <p:cNvSpPr/>
          <p:nvPr/>
        </p:nvSpPr>
        <p:spPr>
          <a:xfrm>
            <a:off x="6812280" y="1280160"/>
            <a:ext cx="4800600" cy="2286000"/>
          </a:xfrm>
          <a:prstGeom prst="rect">
            <a:avLst/>
          </a:prstGeom>
          <a:solidFill>
            <a:schemeClr val="bg1"/>
          </a:solidFill>
          <a:ln w="12700">
            <a:solidFill>
              <a:schemeClr val="tx1"/>
            </a:solidFill>
            <a:prstDash val="solid"/>
          </a:ln>
        </p:spPr>
      </p:sp>
      <p:sp>
        <p:nvSpPr>
          <p:cNvPr id="7" name="Text 4"/>
          <p:cNvSpPr txBox="1"/>
          <p:nvPr/>
        </p:nvSpPr>
        <p:spPr>
          <a:xfrm>
            <a:off x="6949440" y="1389888"/>
            <a:ext cx="4526280" cy="206654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Not done 1: microservices or a broker</a:t>
            </a:r>
            <a:endParaRPr lang="en-US" sz="2000" dirty="0"/>
          </a:p>
          <a:p>
            <a:pPr marL="177800" indent="-177800">
              <a:spcAft>
                <a:spcPts val="800"/>
              </a:spcAft>
              <a:buSzPct val="100000"/>
              <a:buChar char="•"/>
            </a:pPr>
            <a:r>
              <a:rPr lang="en-US" sz="1800" dirty="0">
                <a:solidFill>
                  <a:schemeClr val="tx1"/>
                </a:solidFill>
              </a:rPr>
              <a:t>They solve big-team and scaling problems we do not have</a:t>
            </a:r>
            <a:endParaRPr lang="en-US" sz="2000" dirty="0"/>
          </a:p>
          <a:p>
            <a:pPr marL="177800" indent="-177800">
              <a:spcAft>
                <a:spcPts val="800"/>
              </a:spcAft>
              <a:buSzPct val="100000"/>
              <a:buChar char="•"/>
            </a:pPr>
            <a:r>
              <a:rPr lang="en-US" sz="1800" dirty="0">
                <a:solidFill>
                  <a:schemeClr val="tx1"/>
                </a:solidFill>
              </a:rPr>
              <a:t>Modules can be extracted later if needed</a:t>
            </a:r>
            <a:endParaRPr lang="en-US" sz="2000" dirty="0"/>
          </a:p>
        </p:txBody>
      </p:sp>
      <p:sp>
        <p:nvSpPr>
          <p:cNvPr id="8" name="card Not done 2: real-time GPS tracking"/>
          <p:cNvSpPr/>
          <p:nvPr/>
        </p:nvSpPr>
        <p:spPr>
          <a:xfrm>
            <a:off x="6812280" y="3840480"/>
            <a:ext cx="4800600" cy="2286000"/>
          </a:xfrm>
          <a:prstGeom prst="rect">
            <a:avLst/>
          </a:prstGeom>
          <a:solidFill>
            <a:schemeClr val="bg1"/>
          </a:solidFill>
          <a:ln w="12700">
            <a:solidFill>
              <a:schemeClr val="tx1"/>
            </a:solidFill>
            <a:prstDash val="solid"/>
          </a:ln>
        </p:spPr>
      </p:sp>
      <p:sp>
        <p:nvSpPr>
          <p:cNvPr id="9" name="Text 6"/>
          <p:cNvSpPr txBox="1"/>
          <p:nvPr/>
        </p:nvSpPr>
        <p:spPr>
          <a:xfrm>
            <a:off x="6949440" y="3950208"/>
            <a:ext cx="4526280" cy="206654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Not done 2: real-time GPS tracking</a:t>
            </a:r>
            <a:endParaRPr lang="en-US" sz="2000" dirty="0"/>
          </a:p>
          <a:p>
            <a:pPr marL="177800" indent="-177800">
              <a:spcAft>
                <a:spcPts val="800"/>
              </a:spcAft>
              <a:buSzPct val="100000"/>
              <a:buChar char="•"/>
            </a:pPr>
            <a:r>
              <a:rPr lang="en-US" sz="1800" dirty="0">
                <a:solidFill>
                  <a:schemeClr val="tx1"/>
                </a:solidFill>
              </a:rPr>
              <a:t>Status-based tracking meets "track the order"</a:t>
            </a:r>
            <a:endParaRPr lang="en-US" sz="2000" dirty="0"/>
          </a:p>
          <a:p>
            <a:pPr marL="177800" indent="-177800">
              <a:spcAft>
                <a:spcPts val="800"/>
              </a:spcAft>
              <a:buSzPct val="100000"/>
              <a:buChar char="•"/>
            </a:pPr>
            <a:r>
              <a:rPr lang="en-US" sz="1800" dirty="0">
                <a:solidFill>
                  <a:schemeClr val="tx1"/>
                </a:solidFill>
              </a:rPr>
              <a:t>Revisit if support load or customers demand it</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Which internal style? We combined what pays off</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108960"/>
                <a:gridCol w="1828800"/>
                <a:gridCol w="6126480"/>
              </a:tblGrid>
              <a:tr h="0">
                <a:tc>
                  <a:txBody>
                    <a:bodyPr/>
                    <a:lstStyle/>
                    <a:p>
                      <a:pPr indent="0" marL="0">
                        <a:buNone/>
                      </a:pPr>
                      <a:r>
                        <a:rPr lang="en-US" sz="1600" b="1" dirty="0">
                          <a:solidFill>
                            <a:schemeClr val="bg1"/>
                          </a:solidFill>
                        </a:rPr>
                        <a:t>Option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Used?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How</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r>
              <a:tr h="0">
                <a:tc>
                  <a:txBody>
                    <a:bodyPr/>
                    <a:lstStyle/>
                    <a:p>
                      <a:pPr indent="0" marL="0">
                        <a:buNone/>
                      </a:pPr>
                      <a:r>
                        <a:rPr lang="en-US" sz="1600" b="1" dirty="0">
                          <a:solidFill>
                            <a:schemeClr val="tx1"/>
                          </a:solidFill>
                        </a:rPr>
                        <a:t>Vertical Slice Architecture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Yes, primary</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Code organised by use case inside each module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Hexagonal / Ports and Adapters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At the edges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Payment provider and notification provider sit behind our own interfaces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Domain-Driven Design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Selectively</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Modules are bounded contexts; Order is an aggregate guarding its state machine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A-Frame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The idea</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Order rules are pure code with no database or HTTP, so they are easy to test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Clean Architecture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No</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Concentric layers and interfaces everywhere: too much ceremony for 3 developers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indent="0" marL="0">
              <a:buNone/>
            </a:pPr>
            <a:r>
              <a:rPr lang="en-US" sz="4000" b="1" dirty="0">
                <a:solidFill>
                  <a:schemeClr val="bg1"/>
                </a:solidFill>
              </a:rPr>
              <a:t>Question 2: Six months later</a:t>
            </a:r>
            <a:endParaRPr lang="en-US" sz="4000" dirty="0"/>
          </a:p>
        </p:txBody>
      </p:sp>
      <p:sp>
        <p:nvSpPr>
          <p:cNvPr id="3" name="Text 0"/>
          <p:cNvSpPr/>
          <p:nvPr>
            <p:ph idx="101" type="body" hasCustomPrompt="1"/>
          </p:nvPr>
        </p:nvSpPr>
        <p:spPr>
          <a:xfrm>
            <a:off x="731520" y="3611880"/>
            <a:ext cx="10698480" cy="1280160"/>
          </a:xfrm>
          <a:prstGeom prst="rect">
            <a:avLst/>
          </a:prstGeom>
          <a:noFill/>
          <a:ln/>
        </p:spPr>
        <p:txBody>
          <a:bodyPr wrap="square" lIns="0" tIns="0" rIns="0" bIns="0" rtlCol="0" anchor="t"/>
          <a:lstStyle/>
          <a:p>
            <a:pPr algn="ctr" indent="0" marL="0">
              <a:buNone/>
            </a:pPr>
            <a:r>
              <a:rPr lang="en-US" sz="2000" dirty="0">
                <a:solidFill>
                  <a:schemeClr val="accent5"/>
                </a:solidFill>
              </a:rPr>
              <a:t>15 restaurants, 50 expected  |  5 developers  |  still one city  |  more budget, still no DevOps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Every symptom traced to a Q1 cause, and one fix</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108960"/>
                <a:gridCol w="3566160"/>
                <a:gridCol w="4389120"/>
              </a:tblGrid>
              <a:tr h="0">
                <a:tc>
                  <a:txBody>
                    <a:bodyPr/>
                    <a:lstStyle/>
                    <a:p>
                      <a:pPr indent="0" marL="0">
                        <a:buNone/>
                      </a:pPr>
                      <a:r>
                        <a:rPr lang="en-US" sz="1600" b="1" dirty="0">
                          <a:solidFill>
                            <a:schemeClr val="bg1"/>
                          </a:solidFill>
                        </a:rPr>
                        <a:t>Symptom</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Cause in Q1</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Fix in Q2</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r>
              <a:tr h="0">
                <a:tc>
                  <a:txBody>
                    <a:bodyPr/>
                    <a:lstStyle/>
                    <a:p>
                      <a:pPr indent="0" marL="0">
                        <a:buNone/>
                      </a:pPr>
                      <a:r>
                        <a:rPr lang="en-US" sz="1600" b="1" dirty="0">
                          <a:solidFill>
                            <a:schemeClr val="tx1"/>
                          </a:solidFill>
                        </a:rPr>
                        <a:t>Browsing gets most traffic</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Every menu view hits the database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Redis cache-aside for browse and menu, CDN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Expensive DB operations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15x data, missing indexes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Measure (pg_stat_statements), index, paginate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Notifications slow requests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Sent synchronously in the request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Outbox + PostgreSQL job queue + worker</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Reporting hurts performance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Heavy queries on the live database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Read replica + daily summary table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Disruptive deployments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One instance, breaking migrations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2+ instances, rolling deploys, expand/contract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Developers collide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No ownership; DB not protected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DB role per module, CODEOWNERS, CI tests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Add restaurants fast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Manual onboarding</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Self-service onboarding slices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Q2 architecture: same monolith, targeted additions</a:t>
            </a:r>
            <a:endParaRPr lang="en-US" sz="3000" dirty="0"/>
          </a:p>
        </p:txBody>
      </p:sp>
      <p:pic>
        <p:nvPicPr>
          <p:cNvPr id="4" name="diagram Question2/diagrams/Q2-Architecture-page1.png" descr="Dashed = new in Q2, thick border = changed in Q2">    </p:cNvPr>
          <p:cNvPicPr>
            <a:picLocks noChangeAspect="1"/>
          </p:cNvPicPr>
          <p:nvPr/>
        </p:nvPicPr>
        <p:blipFill>
          <a:blip r:embed="rId1"/>
          <a:stretch>
            <a:fillRect/>
          </a:stretch>
        </p:blipFill>
        <p:spPr>
          <a:xfrm>
            <a:off x="1997105" y="1188720"/>
            <a:ext cx="8167311" cy="4800600"/>
          </a:xfrm>
          <a:prstGeom prst="rect">
            <a:avLst/>
          </a:prstGeom>
        </p:spPr>
      </p:pic>
      <p:sp>
        <p:nvSpPr>
          <p:cNvPr id="5" name="diagram frame"/>
          <p:cNvSpPr/>
          <p:nvPr/>
        </p:nvSpPr>
        <p:spPr>
          <a:xfrm>
            <a:off x="1997105" y="1188720"/>
            <a:ext cx="8167311" cy="4800600"/>
          </a:xfrm>
          <a:prstGeom prst="rect">
            <a:avLst/>
          </a:prstGeom>
          <a:ln w="9525">
            <a:solidFill>
              <a:schemeClr val="tx1"/>
            </a:solidFill>
            <a:prstDash val="solid"/>
          </a:ln>
        </p:spPr>
      </p:sp>
      <p:sp>
        <p:nvSpPr>
          <p:cNvPr id="6" name="Text 2"/>
          <p:cNvSpPr txBox="1"/>
          <p:nvPr/>
        </p:nvSpPr>
        <p:spPr>
          <a:xfrm>
            <a:off x="548640" y="6062472"/>
            <a:ext cx="11064240" cy="274320"/>
          </a:xfrm>
          <a:prstGeom prst="rect">
            <a:avLst/>
          </a:prstGeom>
          <a:noFill/>
          <a:ln/>
        </p:spPr>
        <p:txBody>
          <a:bodyPr wrap="square" lIns="0" tIns="0" rIns="0" bIns="0" rtlCol="0" anchor="ctr"/>
          <a:lstStyle/>
          <a:p>
            <a:pPr algn="ctr" indent="0" marL="0">
              <a:buNone/>
            </a:pPr>
            <a:r>
              <a:rPr lang="en-US" sz="1100" i="1" dirty="0">
                <a:solidFill>
                  <a:schemeClr val="tx2"/>
                </a:solidFill>
              </a:rPr>
              <a:t>Dashed = new in Q2, thick border = changed in Q2</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Notifications leave the request path</a:t>
            </a:r>
            <a:endParaRPr lang="en-US" sz="3000" dirty="0"/>
          </a:p>
        </p:txBody>
      </p:sp>
      <p:pic>
        <p:nvPicPr>
          <p:cNvPr id="4" name="diagram Question2/diagrams/Q2-Architecture-page2.png" descr="Question2/diagrams/Q2-Architecture-page2.png">    </p:cNvPr>
          <p:cNvPicPr>
            <a:picLocks noChangeAspect="1"/>
          </p:cNvPicPr>
          <p:nvPr/>
        </p:nvPicPr>
        <p:blipFill>
          <a:blip r:embed="rId1"/>
          <a:stretch>
            <a:fillRect/>
          </a:stretch>
        </p:blipFill>
        <p:spPr>
          <a:xfrm>
            <a:off x="548640" y="1188720"/>
            <a:ext cx="7589520" cy="4100260"/>
          </a:xfrm>
          <a:prstGeom prst="rect">
            <a:avLst/>
          </a:prstGeom>
        </p:spPr>
      </p:pic>
      <p:sp>
        <p:nvSpPr>
          <p:cNvPr id="5" name="diagram frame"/>
          <p:cNvSpPr/>
          <p:nvPr/>
        </p:nvSpPr>
        <p:spPr>
          <a:xfrm>
            <a:off x="548640" y="1188720"/>
            <a:ext cx="7589520" cy="4100260"/>
          </a:xfrm>
          <a:prstGeom prst="rect">
            <a:avLst/>
          </a:prstGeom>
          <a:ln w="9525">
            <a:solidFill>
              <a:schemeClr val="tx1"/>
            </a:solidFill>
            <a:prstDash val="solid"/>
          </a:ln>
        </p:spPr>
      </p:sp>
      <p:sp>
        <p:nvSpPr>
          <p:cNvPr id="6" name="card Why not RabbitMQ?"/>
          <p:cNvSpPr/>
          <p:nvPr/>
        </p:nvSpPr>
        <p:spPr>
          <a:xfrm>
            <a:off x="8366760" y="1280160"/>
            <a:ext cx="3246120" cy="4846320"/>
          </a:xfrm>
          <a:prstGeom prst="rect">
            <a:avLst/>
          </a:prstGeom>
          <a:solidFill>
            <a:schemeClr val="bg1"/>
          </a:solidFill>
          <a:ln w="12700">
            <a:solidFill>
              <a:schemeClr val="tx1"/>
            </a:solidFill>
            <a:prstDash val="solid"/>
          </a:ln>
        </p:spPr>
      </p:sp>
      <p:sp>
        <p:nvSpPr>
          <p:cNvPr id="7" name="Text 3"/>
          <p:cNvSpPr txBox="1"/>
          <p:nvPr/>
        </p:nvSpPr>
        <p:spPr>
          <a:xfrm>
            <a:off x="8503920" y="1389888"/>
            <a:ext cx="297180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Why not RabbitMQ?</a:t>
            </a:r>
            <a:endParaRPr lang="en-US" sz="2000" dirty="0"/>
          </a:p>
          <a:p>
            <a:pPr marL="177800" indent="-177800">
              <a:spcAft>
                <a:spcPts val="800"/>
              </a:spcAft>
              <a:buSzPct val="100000"/>
              <a:buChar char="•"/>
            </a:pPr>
            <a:r>
              <a:rPr lang="en-US" sz="1600" dirty="0">
                <a:solidFill>
                  <a:schemeClr val="tx1"/>
                </a:solidFill>
              </a:rPr>
              <a:t>Save order, then publish: a crash in between loses the message (dual write)</a:t>
            </a:r>
            <a:endParaRPr lang="en-US" sz="2000" dirty="0"/>
          </a:p>
          <a:p>
            <a:pPr marL="177800" indent="-177800">
              <a:spcAft>
                <a:spcPts val="800"/>
              </a:spcAft>
              <a:buSzPct val="100000"/>
              <a:buChar char="•"/>
            </a:pPr>
            <a:r>
              <a:rPr lang="en-US" sz="1600" dirty="0">
                <a:solidFill>
                  <a:schemeClr val="tx1"/>
                </a:solidFill>
              </a:rPr>
              <a:t>So we need an outbox anyway</a:t>
            </a:r>
            <a:endParaRPr lang="en-US" sz="2000" dirty="0"/>
          </a:p>
          <a:p>
            <a:pPr marL="177800" indent="-177800">
              <a:spcAft>
                <a:spcPts val="800"/>
              </a:spcAft>
              <a:buSzPct val="100000"/>
              <a:buChar char="•"/>
            </a:pPr>
            <a:r>
              <a:rPr lang="en-US" sz="1600" dirty="0">
                <a:solidFill>
                  <a:schemeClr val="tx1"/>
                </a:solidFill>
              </a:rPr>
              <a:t>A PostgreSQL queue is transactional with our data</a:t>
            </a:r>
            <a:endParaRPr lang="en-US" sz="2000" dirty="0"/>
          </a:p>
          <a:p>
            <a:pPr marL="177800" indent="-177800">
              <a:spcAft>
                <a:spcPts val="800"/>
              </a:spcAft>
              <a:buSzPct val="100000"/>
              <a:buChar char="•"/>
            </a:pPr>
            <a:r>
              <a:rPr lang="en-US" sz="1600" dirty="0">
                <a:solidFill>
                  <a:schemeClr val="tx1"/>
                </a:solidFill>
              </a:rPr>
              <a:t>No new server for a team without DevOps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Kept, changed, and deliberately kept simple</a:t>
            </a:r>
            <a:endParaRPr lang="en-US" sz="3000" dirty="0"/>
          </a:p>
        </p:txBody>
      </p:sp>
      <p:sp>
        <p:nvSpPr>
          <p:cNvPr id="4" name="card Still works (kept)"/>
          <p:cNvSpPr/>
          <p:nvPr/>
        </p:nvSpPr>
        <p:spPr>
          <a:xfrm>
            <a:off x="548640" y="1280160"/>
            <a:ext cx="3520440" cy="4846320"/>
          </a:xfrm>
          <a:prstGeom prst="rect">
            <a:avLst/>
          </a:prstGeom>
          <a:solidFill>
            <a:schemeClr val="bg1"/>
          </a:solidFill>
          <a:ln w="12700">
            <a:solidFill>
              <a:schemeClr val="tx1"/>
            </a:solidFill>
            <a:prstDash val="solid"/>
          </a:ln>
        </p:spPr>
      </p:sp>
      <p:sp>
        <p:nvSpPr>
          <p:cNvPr id="5" name="Text 2"/>
          <p:cNvSpPr txBox="1"/>
          <p:nvPr/>
        </p:nvSpPr>
        <p:spPr>
          <a:xfrm>
            <a:off x="685800" y="1389888"/>
            <a:ext cx="324612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Still works (kept)</a:t>
            </a:r>
            <a:endParaRPr lang="en-US" sz="2000" dirty="0"/>
          </a:p>
          <a:p>
            <a:pPr marL="177800" indent="-177800">
              <a:spcAft>
                <a:spcPts val="800"/>
              </a:spcAft>
              <a:buSzPct val="100000"/>
              <a:buChar char="•"/>
            </a:pPr>
            <a:r>
              <a:rPr lang="en-US" sz="1800" dirty="0">
                <a:solidFill>
                  <a:schemeClr val="tx1"/>
                </a:solidFill>
              </a:rPr>
              <a:t>Modular monolith</a:t>
            </a:r>
            <a:endParaRPr lang="en-US" sz="2000" dirty="0"/>
          </a:p>
          <a:p>
            <a:pPr marL="177800" indent="-177800">
              <a:spcAft>
                <a:spcPts val="800"/>
              </a:spcAft>
              <a:buSzPct val="100000"/>
              <a:buChar char="•"/>
            </a:pPr>
            <a:r>
              <a:rPr lang="en-US" sz="1800" dirty="0">
                <a:solidFill>
                  <a:schemeClr val="tx1"/>
                </a:solidFill>
              </a:rPr>
              <a:t>Vertical slices: now paying off</a:t>
            </a:r>
            <a:endParaRPr lang="en-US" sz="2000" dirty="0"/>
          </a:p>
          <a:p>
            <a:pPr marL="177800" indent="-177800">
              <a:spcAft>
                <a:spcPts val="800"/>
              </a:spcAft>
              <a:buSzPct val="100000"/>
              <a:buChar char="•"/>
            </a:pPr>
            <a:r>
              <a:rPr lang="en-US" sz="1800" dirty="0">
                <a:solidFill>
                  <a:schemeClr val="tx1"/>
                </a:solidFill>
              </a:rPr>
              <a:t>Module boundaries and schemas</a:t>
            </a:r>
            <a:endParaRPr lang="en-US" sz="2000" dirty="0"/>
          </a:p>
          <a:p>
            <a:pPr marL="177800" indent="-177800">
              <a:spcAft>
                <a:spcPts val="800"/>
              </a:spcAft>
              <a:buSzPct val="100000"/>
              <a:buChar char="•"/>
            </a:pPr>
            <a:r>
              <a:rPr lang="en-US" sz="1800" dirty="0">
                <a:solidFill>
                  <a:schemeClr val="tx1"/>
                </a:solidFill>
              </a:rPr>
              <a:t>Ports and adapters</a:t>
            </a:r>
            <a:endParaRPr lang="en-US" sz="2000" dirty="0"/>
          </a:p>
          <a:p>
            <a:pPr marL="177800" indent="-177800">
              <a:spcAft>
                <a:spcPts val="800"/>
              </a:spcAft>
              <a:buSzPct val="100000"/>
              <a:buChar char="•"/>
            </a:pPr>
            <a:r>
              <a:rPr lang="en-US" sz="1800" dirty="0">
                <a:solidFill>
                  <a:schemeClr val="tx1"/>
                </a:solidFill>
              </a:rPr>
              <a:t>Authorise / capture payments</a:t>
            </a:r>
            <a:endParaRPr lang="en-US" sz="2000" dirty="0"/>
          </a:p>
          <a:p>
            <a:pPr marL="177800" indent="-177800">
              <a:spcAft>
                <a:spcPts val="800"/>
              </a:spcAft>
              <a:buSzPct val="100000"/>
              <a:buChar char="•"/>
            </a:pPr>
            <a:r>
              <a:rPr lang="en-US" sz="1800" dirty="0">
                <a:solidFill>
                  <a:schemeClr val="tx1"/>
                </a:solidFill>
              </a:rPr>
              <a:t>Polling for status</a:t>
            </a:r>
            <a:endParaRPr lang="en-US" sz="2000" dirty="0"/>
          </a:p>
        </p:txBody>
      </p:sp>
      <p:sp>
        <p:nvSpPr>
          <p:cNvPr id="6" name="card Reconsidered (changed)"/>
          <p:cNvSpPr/>
          <p:nvPr/>
        </p:nvSpPr>
        <p:spPr>
          <a:xfrm>
            <a:off x="4315968" y="1280160"/>
            <a:ext cx="3520440" cy="4846320"/>
          </a:xfrm>
          <a:prstGeom prst="rect">
            <a:avLst/>
          </a:prstGeom>
          <a:solidFill>
            <a:schemeClr val="bg1"/>
          </a:solidFill>
          <a:ln w="28575">
            <a:solidFill>
              <a:schemeClr val="tx1"/>
            </a:solidFill>
            <a:prstDash val="solid"/>
          </a:ln>
        </p:spPr>
      </p:sp>
      <p:sp>
        <p:nvSpPr>
          <p:cNvPr id="7" name="Text 4"/>
          <p:cNvSpPr txBox="1"/>
          <p:nvPr/>
        </p:nvSpPr>
        <p:spPr>
          <a:xfrm>
            <a:off x="4453128" y="1389888"/>
            <a:ext cx="324612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Reconsidered (changed)</a:t>
            </a:r>
            <a:endParaRPr lang="en-US" sz="2000" dirty="0"/>
          </a:p>
          <a:p>
            <a:pPr marL="177800" indent="-177800">
              <a:spcAft>
                <a:spcPts val="800"/>
              </a:spcAft>
              <a:buSzPct val="100000"/>
              <a:buChar char="•"/>
            </a:pPr>
            <a:r>
              <a:rPr lang="en-US" sz="1800" dirty="0">
                <a:solidFill>
                  <a:schemeClr val="tx1"/>
                </a:solidFill>
              </a:rPr>
              <a:t>Sync notifications to async worker</a:t>
            </a:r>
            <a:endParaRPr lang="en-US" sz="2000" dirty="0"/>
          </a:p>
          <a:p>
            <a:pPr marL="177800" indent="-177800">
              <a:spcAft>
                <a:spcPts val="800"/>
              </a:spcAft>
              <a:buSzPct val="100000"/>
              <a:buChar char="•"/>
            </a:pPr>
            <a:r>
              <a:rPr lang="en-US" sz="1800" dirty="0">
                <a:solidFill>
                  <a:schemeClr val="tx1"/>
                </a:solidFill>
              </a:rPr>
              <a:t>In-memory events to durable outbox</a:t>
            </a:r>
            <a:endParaRPr lang="en-US" sz="2000" dirty="0"/>
          </a:p>
          <a:p>
            <a:pPr marL="177800" indent="-177800">
              <a:spcAft>
                <a:spcPts val="800"/>
              </a:spcAft>
              <a:buSzPct val="100000"/>
              <a:buChar char="•"/>
            </a:pPr>
            <a:r>
              <a:rPr lang="en-US" sz="1800" dirty="0">
                <a:solidFill>
                  <a:schemeClr val="tx1"/>
                </a:solidFill>
              </a:rPr>
              <a:t>Reports on live DB to read replica</a:t>
            </a:r>
            <a:endParaRPr lang="en-US" sz="2000" dirty="0"/>
          </a:p>
          <a:p>
            <a:pPr marL="177800" indent="-177800">
              <a:spcAft>
                <a:spcPts val="800"/>
              </a:spcAft>
              <a:buSzPct val="100000"/>
              <a:buChar char="•"/>
            </a:pPr>
            <a:r>
              <a:rPr lang="en-US" sz="1800" dirty="0">
                <a:solidFill>
                  <a:schemeClr val="tx1"/>
                </a:solidFill>
              </a:rPr>
              <a:t>No cache to Redis cache-aside</a:t>
            </a:r>
            <a:endParaRPr lang="en-US" sz="2000" dirty="0"/>
          </a:p>
          <a:p>
            <a:pPr marL="177800" indent="-177800">
              <a:spcAft>
                <a:spcPts val="800"/>
              </a:spcAft>
              <a:buSzPct val="100000"/>
              <a:buChar char="•"/>
            </a:pPr>
            <a:r>
              <a:rPr lang="en-US" sz="1800" dirty="0">
                <a:solidFill>
                  <a:schemeClr val="tx1"/>
                </a:solidFill>
              </a:rPr>
              <a:t>Single instance to rolling deploys</a:t>
            </a:r>
            <a:endParaRPr lang="en-US" sz="2000" dirty="0"/>
          </a:p>
          <a:p>
            <a:pPr marL="177800" indent="-177800">
              <a:spcAft>
                <a:spcPts val="800"/>
              </a:spcAft>
              <a:buSzPct val="100000"/>
              <a:buChar char="•"/>
            </a:pPr>
            <a:r>
              <a:rPr lang="en-US" sz="1800" dirty="0">
                <a:solidFill>
                  <a:schemeClr val="tx1"/>
                </a:solidFill>
              </a:rPr>
              <a:t>Code checks to + DB roles, CODEOWNERS</a:t>
            </a:r>
            <a:endParaRPr lang="en-US" sz="2000" dirty="0"/>
          </a:p>
        </p:txBody>
      </p:sp>
      <p:sp>
        <p:nvSpPr>
          <p:cNvPr id="8" name="card Deliberately simple"/>
          <p:cNvSpPr/>
          <p:nvPr/>
        </p:nvSpPr>
        <p:spPr>
          <a:xfrm>
            <a:off x="8092440" y="1280160"/>
            <a:ext cx="3520440" cy="4846320"/>
          </a:xfrm>
          <a:prstGeom prst="rect">
            <a:avLst/>
          </a:prstGeom>
          <a:solidFill>
            <a:schemeClr val="bg1"/>
          </a:solidFill>
          <a:ln w="12700">
            <a:solidFill>
              <a:schemeClr val="tx1"/>
            </a:solidFill>
            <a:prstDash val="solid"/>
          </a:ln>
        </p:spPr>
      </p:sp>
      <p:sp>
        <p:nvSpPr>
          <p:cNvPr id="9" name="Text 6"/>
          <p:cNvSpPr txBox="1"/>
          <p:nvPr/>
        </p:nvSpPr>
        <p:spPr>
          <a:xfrm>
            <a:off x="8229600" y="1389888"/>
            <a:ext cx="324612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Deliberately simple</a:t>
            </a:r>
            <a:endParaRPr lang="en-US" sz="2000" dirty="0"/>
          </a:p>
          <a:p>
            <a:pPr marL="177800" indent="-177800">
              <a:spcAft>
                <a:spcPts val="800"/>
              </a:spcAft>
              <a:buSzPct val="100000"/>
              <a:buChar char="•"/>
            </a:pPr>
            <a:r>
              <a:rPr lang="en-US" sz="1800" dirty="0">
                <a:solidFill>
                  <a:schemeClr val="tx1"/>
                </a:solidFill>
              </a:rPr>
              <a:t>One deployable</a:t>
            </a:r>
            <a:endParaRPr lang="en-US" sz="2000" dirty="0"/>
          </a:p>
          <a:p>
            <a:pPr marL="177800" indent="-177800">
              <a:spcAft>
                <a:spcPts val="800"/>
              </a:spcAft>
              <a:buSzPct val="100000"/>
              <a:buChar char="•"/>
            </a:pPr>
            <a:r>
              <a:rPr lang="en-US" sz="1800" dirty="0">
                <a:solidFill>
                  <a:schemeClr val="tx1"/>
                </a:solidFill>
              </a:rPr>
              <a:t>One primary database</a:t>
            </a:r>
            <a:endParaRPr lang="en-US" sz="2000" dirty="0"/>
          </a:p>
          <a:p>
            <a:pPr marL="177800" indent="-177800">
              <a:spcAft>
                <a:spcPts val="800"/>
              </a:spcAft>
              <a:buSzPct val="100000"/>
              <a:buChar char="•"/>
            </a:pPr>
            <a:r>
              <a:rPr lang="en-US" sz="1800" dirty="0">
                <a:solidFill>
                  <a:schemeClr val="tx1"/>
                </a:solidFill>
              </a:rPr>
              <a:t>No message broker</a:t>
            </a:r>
            <a:endParaRPr lang="en-US" sz="2000" dirty="0"/>
          </a:p>
          <a:p>
            <a:pPr marL="177800" indent="-177800">
              <a:spcAft>
                <a:spcPts val="800"/>
              </a:spcAft>
              <a:buSzPct val="100000"/>
              <a:buChar char="•"/>
            </a:pPr>
            <a:r>
              <a:rPr lang="en-US" sz="1800" dirty="0">
                <a:solidFill>
                  <a:schemeClr val="tx1"/>
                </a:solidFill>
              </a:rPr>
              <a:t>No Kubernetes</a:t>
            </a:r>
            <a:endParaRPr lang="en-US" sz="2000" dirty="0"/>
          </a:p>
          <a:p>
            <a:pPr marL="177800" indent="-177800">
              <a:spcAft>
                <a:spcPts val="800"/>
              </a:spcAft>
              <a:buSzPct val="100000"/>
              <a:buChar char="•"/>
            </a:pPr>
            <a:r>
              <a:rPr lang="en-US" sz="1800" dirty="0">
                <a:solidFill>
                  <a:schemeClr val="tx1"/>
                </a:solidFill>
              </a:rPr>
              <a:t>No search engine</a:t>
            </a:r>
            <a:endParaRPr lang="en-US" sz="2000" dirty="0"/>
          </a:p>
          <a:p>
            <a:pPr marL="177800" indent="-177800">
              <a:spcAft>
                <a:spcPts val="800"/>
              </a:spcAft>
              <a:buSzPct val="100000"/>
              <a:buChar char="•"/>
            </a:pPr>
            <a:r>
              <a:rPr lang="en-US" sz="1800" dirty="0">
                <a:solidFill>
                  <a:schemeClr val="tx1"/>
                </a:solidFill>
              </a:rPr>
              <a:t>No multi-city work</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Should we introduce...? Each answer names its problem</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017520"/>
                <a:gridCol w="2560320"/>
                <a:gridCol w="5486400"/>
              </a:tblGrid>
              <a:tr h="0">
                <a:tc>
                  <a:txBody>
                    <a:bodyPr/>
                    <a:lstStyle/>
                    <a:p>
                      <a:pPr indent="0" marL="0">
                        <a:buNone/>
                      </a:pPr>
                      <a:r>
                        <a:rPr lang="en-US" sz="1600" b="1" dirty="0">
                          <a:solidFill>
                            <a:schemeClr val="bg1"/>
                          </a:solidFill>
                        </a:rPr>
                        <a:t>Option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Answer</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Problem it solves, or why not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r>
              <a:tr h="0">
                <a:tc>
                  <a:txBody>
                    <a:bodyPr/>
                    <a:lstStyle/>
                    <a:p>
                      <a:pPr indent="0" marL="0">
                        <a:buNone/>
                      </a:pPr>
                      <a:r>
                        <a:rPr lang="en-US" sz="1600" b="1" dirty="0">
                          <a:solidFill>
                            <a:schemeClr val="tx1"/>
                          </a:solidFill>
                        </a:rPr>
                        <a:t>Caching</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Yes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Read-heavy, rarely-changing browse and menu data</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Background processing</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Yes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Slow notification work leaves the request path</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Messaging</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Durable events, no broker</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Crash-safe events without a new server</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Queues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Yes, in PostgreSQL</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Retries, backoff, dead-letter, transactional</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Separate reporting storage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Read replica</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Removes contention; a warehouse is not needed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Independent deployment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No</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Rolling deploys fix the disruption more cheaply</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Additional services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No</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 worker process from the same codebase is enough</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Stronger module boundaries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Yes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DB roles, CODEOWNERS, tests on every PR</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indent="0" marL="0">
              <a:buNone/>
            </a:pPr>
            <a:r>
              <a:rPr lang="en-US" sz="4000" b="1" dirty="0">
                <a:solidFill>
                  <a:schemeClr val="bg1"/>
                </a:solidFill>
              </a:rPr>
              <a:t>Question 3: Friday night, the payment provider fails</a:t>
            </a:r>
            <a:endParaRPr lang="en-US" sz="4000" dirty="0"/>
          </a:p>
        </p:txBody>
      </p:sp>
      <p:sp>
        <p:nvSpPr>
          <p:cNvPr id="3" name="Text 0"/>
          <p:cNvSpPr/>
          <p:nvPr>
            <p:ph idx="101" type="body" hasCustomPrompt="1"/>
          </p:nvPr>
        </p:nvSpPr>
        <p:spPr>
          <a:xfrm>
            <a:off x="731520" y="3611880"/>
            <a:ext cx="10698480" cy="1280160"/>
          </a:xfrm>
          <a:prstGeom prst="rect">
            <a:avLst/>
          </a:prstGeom>
          <a:noFill/>
          <a:ln/>
        </p:spPr>
        <p:txBody>
          <a:bodyPr wrap="square" lIns="0" tIns="0" rIns="0" bIns="0" rtlCol="0" anchor="t"/>
          <a:lstStyle/>
          <a:p>
            <a:pPr algn="ctr" indent="0" marL="0">
              <a:buNone/>
            </a:pPr>
            <a:r>
              <a:rPr lang="en-US" sz="2000" dirty="0">
                <a:solidFill>
                  <a:schemeClr val="accent5"/>
                </a:solidFill>
              </a:rPr>
              <a:t>50 restaurants  |  3 cities  |  12 developers in 2 teams  |  10 more cities planned</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The root mistake: treating payment as success or failure</a:t>
            </a:r>
            <a:endParaRPr lang="en-US" sz="3000" dirty="0"/>
          </a:p>
        </p:txBody>
      </p:sp>
      <p:sp>
        <p:nvSpPr>
          <p:cNvPr id="4" name="outcome SUCCEEDED"/>
          <p:cNvSpPr/>
          <p:nvPr/>
        </p:nvSpPr>
        <p:spPr>
          <a:xfrm>
            <a:off x="548640" y="1325880"/>
            <a:ext cx="3520440" cy="1371600"/>
          </a:xfrm>
          <a:prstGeom prst="rect">
            <a:avLst/>
          </a:prstGeom>
          <a:solidFill>
            <a:schemeClr val="bg1"/>
          </a:solidFill>
          <a:ln w="19050">
            <a:solidFill>
              <a:schemeClr val="tx1"/>
            </a:solidFill>
            <a:prstDash val="solid"/>
          </a:ln>
        </p:spPr>
      </p:sp>
      <p:sp>
        <p:nvSpPr>
          <p:cNvPr id="5" name="Text 2"/>
          <p:cNvSpPr txBox="1"/>
          <p:nvPr/>
        </p:nvSpPr>
        <p:spPr>
          <a:xfrm>
            <a:off x="548640" y="1325880"/>
            <a:ext cx="3520440" cy="1371600"/>
          </a:xfrm>
          <a:prstGeom prst="rect">
            <a:avLst/>
          </a:prstGeom>
          <a:noFill/>
          <a:ln/>
        </p:spPr>
        <p:txBody>
          <a:bodyPr wrap="square" lIns="1270" tIns="1270" rIns="1270" bIns="1270" rtlCol="0" anchor="ctr"/>
          <a:lstStyle/>
          <a:p>
            <a:pPr algn="ctr" indent="0" marL="0">
              <a:buNone/>
            </a:pPr>
            <a:r>
              <a:rPr lang="en-US" sz="2400" b="1" dirty="0">
                <a:solidFill>
                  <a:schemeClr val="tx1"/>
                </a:solidFill>
              </a:rPr>
              <a:t>SUCCEEDED</a:t>
            </a:r>
            <a:endParaRPr lang="en-US" sz="2400" dirty="0"/>
          </a:p>
          <a:p>
            <a:pPr algn="ctr" indent="0" marL="0">
              <a:buNone/>
            </a:pPr>
            <a:r>
              <a:rPr lang="en-US" sz="1500" dirty="0">
                <a:solidFill>
                  <a:schemeClr val="tx1"/>
                </a:solidFill>
              </a:rPr>
              <a:t>The provider said yes</a:t>
            </a:r>
            <a:endParaRPr lang="en-US" sz="2400" dirty="0"/>
          </a:p>
        </p:txBody>
      </p:sp>
      <p:sp>
        <p:nvSpPr>
          <p:cNvPr id="6" name="outcome FAILED"/>
          <p:cNvSpPr/>
          <p:nvPr/>
        </p:nvSpPr>
        <p:spPr>
          <a:xfrm>
            <a:off x="4315968" y="1325880"/>
            <a:ext cx="3520440" cy="1371600"/>
          </a:xfrm>
          <a:prstGeom prst="rect">
            <a:avLst/>
          </a:prstGeom>
          <a:solidFill>
            <a:schemeClr val="bg1"/>
          </a:solidFill>
          <a:ln w="19050">
            <a:solidFill>
              <a:schemeClr val="tx1"/>
            </a:solidFill>
            <a:prstDash val="solid"/>
          </a:ln>
        </p:spPr>
      </p:sp>
      <p:sp>
        <p:nvSpPr>
          <p:cNvPr id="7" name="Text 4"/>
          <p:cNvSpPr txBox="1"/>
          <p:nvPr/>
        </p:nvSpPr>
        <p:spPr>
          <a:xfrm>
            <a:off x="4315968" y="1325880"/>
            <a:ext cx="3520440" cy="1371600"/>
          </a:xfrm>
          <a:prstGeom prst="rect">
            <a:avLst/>
          </a:prstGeom>
          <a:noFill/>
          <a:ln/>
        </p:spPr>
        <p:txBody>
          <a:bodyPr wrap="square" lIns="1270" tIns="1270" rIns="1270" bIns="1270" rtlCol="0" anchor="ctr"/>
          <a:lstStyle/>
          <a:p>
            <a:pPr algn="ctr" indent="0" marL="0">
              <a:buNone/>
            </a:pPr>
            <a:r>
              <a:rPr lang="en-US" sz="2400" b="1" dirty="0">
                <a:solidFill>
                  <a:schemeClr val="tx1"/>
                </a:solidFill>
              </a:rPr>
              <a:t>FAILED</a:t>
            </a:r>
            <a:endParaRPr lang="en-US" sz="2400" dirty="0"/>
          </a:p>
          <a:p>
            <a:pPr algn="ctr" indent="0" marL="0">
              <a:buNone/>
            </a:pPr>
            <a:r>
              <a:rPr lang="en-US" sz="1500" dirty="0">
                <a:solidFill>
                  <a:schemeClr val="tx1"/>
                </a:solidFill>
              </a:rPr>
              <a:t>The provider said no</a:t>
            </a:r>
            <a:endParaRPr lang="en-US" sz="2400" dirty="0"/>
          </a:p>
        </p:txBody>
      </p:sp>
      <p:sp>
        <p:nvSpPr>
          <p:cNvPr id="8" name="outcome UNKNOWN"/>
          <p:cNvSpPr/>
          <p:nvPr/>
        </p:nvSpPr>
        <p:spPr>
          <a:xfrm>
            <a:off x="8083296" y="1325880"/>
            <a:ext cx="3520440" cy="1371600"/>
          </a:xfrm>
          <a:prstGeom prst="rect">
            <a:avLst/>
          </a:prstGeom>
          <a:solidFill>
            <a:schemeClr val="tx1"/>
          </a:solidFill>
          <a:ln w="19050">
            <a:solidFill>
              <a:schemeClr val="tx1"/>
            </a:solidFill>
            <a:prstDash val="solid"/>
          </a:ln>
        </p:spPr>
      </p:sp>
      <p:sp>
        <p:nvSpPr>
          <p:cNvPr id="9" name="Text 6"/>
          <p:cNvSpPr txBox="1"/>
          <p:nvPr/>
        </p:nvSpPr>
        <p:spPr>
          <a:xfrm>
            <a:off x="8083296" y="1325880"/>
            <a:ext cx="3520440" cy="1371600"/>
          </a:xfrm>
          <a:prstGeom prst="rect">
            <a:avLst/>
          </a:prstGeom>
          <a:noFill/>
          <a:ln/>
        </p:spPr>
        <p:txBody>
          <a:bodyPr wrap="square" lIns="1270" tIns="1270" rIns="1270" bIns="1270" rtlCol="0" anchor="ctr"/>
          <a:lstStyle/>
          <a:p>
            <a:pPr algn="ctr" indent="0" marL="0">
              <a:buNone/>
            </a:pPr>
            <a:r>
              <a:rPr lang="en-US" sz="2400" b="1" dirty="0">
                <a:solidFill>
                  <a:schemeClr val="bg1"/>
                </a:solidFill>
              </a:rPr>
              <a:t>UNKNOWN</a:t>
            </a:r>
            <a:endParaRPr lang="en-US" sz="2400" dirty="0"/>
          </a:p>
          <a:p>
            <a:pPr algn="ctr" indent="0" marL="0">
              <a:buNone/>
            </a:pPr>
            <a:r>
              <a:rPr lang="en-US" sz="1500" dirty="0">
                <a:solidFill>
                  <a:schemeClr val="bg1"/>
                </a:solidFill>
              </a:rPr>
              <a:t>We asked and never heard back</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64240" cy="914400"/>
        </p:xfrm>
        <a:graphic>
          <a:graphicData uri="http://schemas.openxmlformats.org/drawingml/2006/table">
            <a:tbl>
              <a:tblPr/>
              <a:tblGrid>
                <a:gridCol w="4754880"/>
                <a:gridCol w="6309360"/>
              </a:tblGrid>
              <a:tr h="0">
                <a:tc>
                  <a:txBody>
                    <a:bodyPr/>
                    <a:lstStyle/>
                    <a:p>
                      <a:pPr indent="0" marL="0">
                        <a:buNone/>
                      </a:pPr>
                      <a:r>
                        <a:rPr lang="en-US" sz="1600" b="1" dirty="0">
                          <a:solidFill>
                            <a:schemeClr val="bg1"/>
                          </a:solidFill>
                        </a:rPr>
                        <a:t>What happened on Friday</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Why the Q2 design produced it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r>
              <a:tr h="0">
                <a:tc>
                  <a:txBody>
                    <a:bodyPr/>
                    <a:lstStyle/>
                    <a:p>
                      <a:pPr indent="0" marL="0">
                        <a:buNone/>
                      </a:pPr>
                      <a:r>
                        <a:rPr lang="en-US" sz="1600" dirty="0">
                          <a:solidFill>
                            <a:schemeClr val="tx1"/>
                          </a:solidFill>
                        </a:rPr>
                        <a:t>Charged but cannot see the order</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Timeout recorded as failed although the provider succeeded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dirty="0">
                          <a:solidFill>
                            <a:schemeClr val="tx1"/>
                          </a:solidFill>
                        </a:rPr>
                        <a:t>Customers clicked Place Order again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Each click created a new order and a new payment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dirty="0">
                          <a:solidFill>
                            <a:schemeClr val="tx1"/>
                          </a:solidFill>
                        </a:rPr>
                        <a:t>Some restaurants never got orders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Requests died mid-way; nothing finished the work</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dirty="0">
                          <a:solidFill>
                            <a:schemeClr val="tx1"/>
                          </a:solidFill>
                        </a:rPr>
                        <a:t>Data still wrong after recovery</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Nothing reconciled our records with the provider</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Eight changes, all inside existing modules</a:t>
            </a:r>
            <a:endParaRPr lang="en-US" sz="3000" dirty="0"/>
          </a:p>
        </p:txBody>
      </p:sp>
      <p:sp>
        <p:nvSpPr>
          <p:cNvPr id="4" name="card Ordering and Payments"/>
          <p:cNvSpPr/>
          <p:nvPr/>
        </p:nvSpPr>
        <p:spPr>
          <a:xfrm>
            <a:off x="548640" y="1280160"/>
            <a:ext cx="5486400" cy="4846320"/>
          </a:xfrm>
          <a:prstGeom prst="rect">
            <a:avLst/>
          </a:prstGeom>
          <a:solidFill>
            <a:schemeClr val="bg1"/>
          </a:solidFill>
          <a:ln w="12700">
            <a:solidFill>
              <a:schemeClr val="tx1"/>
            </a:solidFill>
            <a:prstDash val="solid"/>
          </a:ln>
        </p:spPr>
      </p:sp>
      <p:sp>
        <p:nvSpPr>
          <p:cNvPr id="5" name="Text 2"/>
          <p:cNvSpPr txBox="1"/>
          <p:nvPr/>
        </p:nvSpPr>
        <p:spPr>
          <a:xfrm>
            <a:off x="685800" y="1389888"/>
            <a:ext cx="521208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Ordering and Payments</a:t>
            </a:r>
            <a:endParaRPr lang="en-US" sz="2000" dirty="0"/>
          </a:p>
          <a:p>
            <a:pPr marL="177800" indent="-177800">
              <a:spcAft>
                <a:spcPts val="800"/>
              </a:spcAft>
              <a:buSzPct val="100000"/>
              <a:buChar char="•"/>
            </a:pPr>
            <a:r>
              <a:rPr lang="en-US" sz="2000" dirty="0">
                <a:solidFill>
                  <a:schemeClr val="tx1"/>
                </a:solidFill>
              </a:rPr>
              <a:t>Create the order first, then request payment by event</a:t>
            </a:r>
            <a:endParaRPr lang="en-US" sz="2000" dirty="0"/>
          </a:p>
          <a:p>
            <a:pPr marL="177800" indent="-177800">
              <a:spcAft>
                <a:spcPts val="800"/>
              </a:spcAft>
              <a:buSzPct val="100000"/>
              <a:buChar char="•"/>
            </a:pPr>
            <a:r>
              <a:rPr lang="en-US" sz="2000" dirty="0">
                <a:solidFill>
                  <a:schemeClr val="tx1"/>
                </a:solidFill>
              </a:rPr>
              <a:t>Payment attempt ledger with an explicit UNKNOWN state</a:t>
            </a:r>
            <a:endParaRPr lang="en-US" sz="2000" dirty="0"/>
          </a:p>
          <a:p>
            <a:pPr marL="177800" indent="-177800">
              <a:spcAft>
                <a:spcPts val="800"/>
              </a:spcAft>
              <a:buSzPct val="100000"/>
              <a:buChar char="•"/>
            </a:pPr>
            <a:r>
              <a:rPr lang="en-US" sz="2000" dirty="0">
                <a:solidFill>
                  <a:schemeClr val="tx1"/>
                </a:solidFill>
              </a:rPr>
              <a:t>Idempotency keys: client, job handlers, provider</a:t>
            </a:r>
            <a:endParaRPr lang="en-US" sz="2000" dirty="0"/>
          </a:p>
          <a:p>
            <a:pPr marL="177800" indent="-177800">
              <a:spcAft>
                <a:spcPts val="800"/>
              </a:spcAft>
              <a:buSzPct val="100000"/>
              <a:buChar char="•"/>
            </a:pPr>
            <a:r>
              <a:rPr lang="en-US" sz="2000" dirty="0">
                <a:solidFill>
                  <a:schemeClr val="tx1"/>
                </a:solidFill>
              </a:rPr>
              <a:t>Provider calls only in the worker, behind a circuit breaker</a:t>
            </a:r>
            <a:endParaRPr lang="en-US" sz="2000" dirty="0"/>
          </a:p>
        </p:txBody>
      </p:sp>
      <p:sp>
        <p:nvSpPr>
          <p:cNvPr id="6" name="card Recovery and visibility"/>
          <p:cNvSpPr/>
          <p:nvPr/>
        </p:nvSpPr>
        <p:spPr>
          <a:xfrm>
            <a:off x="6126480" y="1280160"/>
            <a:ext cx="5486400" cy="4846320"/>
          </a:xfrm>
          <a:prstGeom prst="rect">
            <a:avLst/>
          </a:prstGeom>
          <a:solidFill>
            <a:schemeClr val="bg1"/>
          </a:solidFill>
          <a:ln w="12700">
            <a:solidFill>
              <a:schemeClr val="tx1"/>
            </a:solidFill>
            <a:prstDash val="solid"/>
          </a:ln>
        </p:spPr>
      </p:sp>
      <p:sp>
        <p:nvSpPr>
          <p:cNvPr id="7" name="Text 4"/>
          <p:cNvSpPr txBox="1"/>
          <p:nvPr/>
        </p:nvSpPr>
        <p:spPr>
          <a:xfrm>
            <a:off x="6263640" y="1389888"/>
            <a:ext cx="521208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Recovery and visibility</a:t>
            </a:r>
            <a:endParaRPr lang="en-US" sz="2000" dirty="0"/>
          </a:p>
          <a:p>
            <a:pPr marL="177800" indent="-177800">
              <a:spcAft>
                <a:spcPts val="800"/>
              </a:spcAft>
              <a:buSzPct val="100000"/>
              <a:buChar char="•"/>
            </a:pPr>
            <a:r>
              <a:rPr lang="en-US" sz="2000" dirty="0">
                <a:solidFill>
                  <a:schemeClr val="tx1"/>
                </a:solidFill>
              </a:rPr>
              <a:t>Reconciliation: webhooks, sweeper, daily settlement</a:t>
            </a:r>
            <a:endParaRPr lang="en-US" sz="2000" dirty="0"/>
          </a:p>
          <a:p>
            <a:pPr marL="177800" indent="-177800">
              <a:spcAft>
                <a:spcPts val="800"/>
              </a:spcAft>
              <a:buSzPct val="100000"/>
              <a:buChar char="•"/>
            </a:pPr>
            <a:r>
              <a:rPr lang="en-US" sz="2000" dirty="0">
                <a:solidFill>
                  <a:schemeClr val="tx1"/>
                </a:solidFill>
              </a:rPr>
              <a:t>Compensation: void a late hold, refund if captured</a:t>
            </a:r>
            <a:endParaRPr lang="en-US" sz="2000" dirty="0"/>
          </a:p>
          <a:p>
            <a:pPr marL="177800" indent="-177800">
              <a:spcAft>
                <a:spcPts val="800"/>
              </a:spcAft>
              <a:buSzPct val="100000"/>
              <a:buChar char="•"/>
            </a:pPr>
            <a:r>
              <a:rPr lang="en-US" sz="2000" dirty="0">
                <a:solidFill>
                  <a:schemeClr val="tx1"/>
                </a:solidFill>
              </a:rPr>
              <a:t>"Confirming your payment" screen; one pending order per customer</a:t>
            </a:r>
            <a:endParaRPr lang="en-US" sz="2000" dirty="0"/>
          </a:p>
          <a:p>
            <a:pPr marL="177800" indent="-177800">
              <a:spcAft>
                <a:spcPts val="800"/>
              </a:spcAft>
              <a:buSzPct val="100000"/>
              <a:buChar char="•"/>
            </a:pPr>
            <a:r>
              <a:rPr lang="en-US" sz="2000" dirty="0">
                <a:solidFill>
                  <a:schemeClr val="tx1"/>
                </a:solidFill>
              </a:rPr>
              <a:t>Support timeline and alerts on circuit state and UNKNOWN count</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Q3 architecture: same topology, resilient payments</a:t>
            </a:r>
            <a:endParaRPr lang="en-US" sz="3000" dirty="0"/>
          </a:p>
        </p:txBody>
      </p:sp>
      <p:pic>
        <p:nvPicPr>
          <p:cNvPr id="4" name="diagram Question3/diagrams/Q3-Architecture-page1.png" descr="Thick border = changed in Q3 (Ordering, Payments)">    </p:cNvPr>
          <p:cNvPicPr>
            <a:picLocks noChangeAspect="1"/>
          </p:cNvPicPr>
          <p:nvPr/>
        </p:nvPicPr>
        <p:blipFill>
          <a:blip r:embed="rId1"/>
          <a:stretch>
            <a:fillRect/>
          </a:stretch>
        </p:blipFill>
        <p:spPr>
          <a:xfrm>
            <a:off x="1997105" y="1188720"/>
            <a:ext cx="8167311" cy="4800600"/>
          </a:xfrm>
          <a:prstGeom prst="rect">
            <a:avLst/>
          </a:prstGeom>
        </p:spPr>
      </p:pic>
      <p:sp>
        <p:nvSpPr>
          <p:cNvPr id="5" name="diagram frame"/>
          <p:cNvSpPr/>
          <p:nvPr/>
        </p:nvSpPr>
        <p:spPr>
          <a:xfrm>
            <a:off x="1997105" y="1188720"/>
            <a:ext cx="8167311" cy="4800600"/>
          </a:xfrm>
          <a:prstGeom prst="rect">
            <a:avLst/>
          </a:prstGeom>
          <a:ln w="9525">
            <a:solidFill>
              <a:schemeClr val="tx1"/>
            </a:solidFill>
            <a:prstDash val="solid"/>
          </a:ln>
        </p:spPr>
      </p:sp>
      <p:sp>
        <p:nvSpPr>
          <p:cNvPr id="6" name="Text 2"/>
          <p:cNvSpPr txBox="1"/>
          <p:nvPr/>
        </p:nvSpPr>
        <p:spPr>
          <a:xfrm>
            <a:off x="548640" y="6062472"/>
            <a:ext cx="11064240" cy="274320"/>
          </a:xfrm>
          <a:prstGeom prst="rect">
            <a:avLst/>
          </a:prstGeom>
          <a:noFill/>
          <a:ln/>
        </p:spPr>
        <p:txBody>
          <a:bodyPr wrap="square" lIns="0" tIns="0" rIns="0" bIns="0" rtlCol="0" anchor="ctr"/>
          <a:lstStyle/>
          <a:p>
            <a:pPr algn="ctr" indent="0" marL="0">
              <a:buNone/>
            </a:pPr>
            <a:r>
              <a:rPr lang="en-US" sz="1100" i="1" dirty="0">
                <a:solidFill>
                  <a:schemeClr val="tx2"/>
                </a:solidFill>
              </a:rPr>
              <a:t>Thick border = changed in Q3 (Ordering, Payments)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Order state and payment state live in different modules</a:t>
            </a:r>
            <a:endParaRPr lang="en-US" sz="3000" dirty="0"/>
          </a:p>
        </p:txBody>
      </p:sp>
      <p:pic>
        <p:nvPicPr>
          <p:cNvPr id="4" name="diagram Question3/diagrams/Q3-Architecture-page2.png" descr="Restaurants only see orders from AWAITING_ACCEPTANCE onwards">    </p:cNvPr>
          <p:cNvPicPr>
            <a:picLocks noChangeAspect="1"/>
          </p:cNvPicPr>
          <p:nvPr/>
        </p:nvPicPr>
        <p:blipFill>
          <a:blip r:embed="rId1"/>
          <a:stretch>
            <a:fillRect/>
          </a:stretch>
        </p:blipFill>
        <p:spPr>
          <a:xfrm>
            <a:off x="1796139" y="1188720"/>
            <a:ext cx="8569242" cy="4800600"/>
          </a:xfrm>
          <a:prstGeom prst="rect">
            <a:avLst/>
          </a:prstGeom>
        </p:spPr>
      </p:pic>
      <p:sp>
        <p:nvSpPr>
          <p:cNvPr id="5" name="diagram frame"/>
          <p:cNvSpPr/>
          <p:nvPr/>
        </p:nvSpPr>
        <p:spPr>
          <a:xfrm>
            <a:off x="1796139" y="1188720"/>
            <a:ext cx="8569242" cy="4800600"/>
          </a:xfrm>
          <a:prstGeom prst="rect">
            <a:avLst/>
          </a:prstGeom>
          <a:ln w="9525">
            <a:solidFill>
              <a:schemeClr val="tx1"/>
            </a:solidFill>
            <a:prstDash val="solid"/>
          </a:ln>
        </p:spPr>
      </p:sp>
      <p:sp>
        <p:nvSpPr>
          <p:cNvPr id="6" name="Text 2"/>
          <p:cNvSpPr txBox="1"/>
          <p:nvPr/>
        </p:nvSpPr>
        <p:spPr>
          <a:xfrm>
            <a:off x="548640" y="6062472"/>
            <a:ext cx="11064240" cy="274320"/>
          </a:xfrm>
          <a:prstGeom prst="rect">
            <a:avLst/>
          </a:prstGeom>
          <a:noFill/>
          <a:ln/>
        </p:spPr>
        <p:txBody>
          <a:bodyPr wrap="square" lIns="0" tIns="0" rIns="0" bIns="0" rtlCol="0" anchor="ctr"/>
          <a:lstStyle/>
          <a:p>
            <a:pPr algn="ctr" indent="0" marL="0">
              <a:buNone/>
            </a:pPr>
            <a:r>
              <a:rPr lang="en-US" sz="1100" i="1" dirty="0">
                <a:solidFill>
                  <a:schemeClr val="tx2"/>
                </a:solidFill>
              </a:rPr>
              <a:t>Restaurants only see orders from AWAITING_ACCEPTANCE onwards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Walkthrough: exactly what happens when...</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108960"/>
                <a:gridCol w="7955280"/>
              </a:tblGrid>
              <a:tr h="0">
                <a:tc>
                  <a:txBody>
                    <a:bodyPr/>
                    <a:lstStyle/>
                    <a:p>
                      <a:pPr indent="0" marL="0">
                        <a:buNone/>
                      </a:pPr>
                      <a:r>
                        <a:rPr lang="en-US" sz="1600" b="1" dirty="0">
                          <a:solidFill>
                            <a:schemeClr val="bg1"/>
                          </a:solidFill>
                        </a:rPr>
                        <a:t>Scenario</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What happens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r>
              <a:tr h="0">
                <a:tc>
                  <a:txBody>
                    <a:bodyPr/>
                    <a:lstStyle/>
                    <a:p>
                      <a:pPr indent="0" marL="0">
                        <a:buNone/>
                      </a:pPr>
                      <a:r>
                        <a:rPr lang="en-US" sz="1600" b="1" dirty="0">
                          <a:solidFill>
                            <a:schemeClr val="tx1"/>
                          </a:solidFill>
                        </a:rPr>
                        <a:t>Payment request times out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Attempt marked UNKNOWN, not failed. Order stays PAYMENT_PENDING; reconciliation scheduled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It actually succeeded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Webhook, sweeper (same key replay) or settlement finds it; order proceeds, or the hold is voided if we gave up</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Customer retries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Same idempotency key returns the same order; a new key hits the one-pending-order rule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Same request received twice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Unique constraints, state checks and the provider key make every repeat a no-op</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Crash after payment succeeds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Job re-runs with the same key; result and event saved in one transaction (outbox)</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Provider comes back online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Circuit half-opens, backlog drains at a capped rate, sweeper resolves every UNKNOWN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Failed operations retried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Only transient errors, same key, backoff with jitter, then dead-letter. Declines are never auto-retried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From timeout to recovery, step by step</a:t>
            </a:r>
            <a:endParaRPr lang="en-US" sz="3000" dirty="0"/>
          </a:p>
        </p:txBody>
      </p:sp>
      <p:pic>
        <p:nvPicPr>
          <p:cNvPr id="4" name="diagram Question3/diagrams/Q3-Architecture-page3.png" descr="Question3/diagrams/Q3-Architecture-page3.png">    </p:cNvPr>
          <p:cNvPicPr>
            <a:picLocks noChangeAspect="1"/>
          </p:cNvPicPr>
          <p:nvPr/>
        </p:nvPicPr>
        <p:blipFill>
          <a:blip r:embed="rId1"/>
          <a:stretch>
            <a:fillRect/>
          </a:stretch>
        </p:blipFill>
        <p:spPr>
          <a:xfrm>
            <a:off x="569715" y="1188720"/>
            <a:ext cx="6541531" cy="4937760"/>
          </a:xfrm>
          <a:prstGeom prst="rect">
            <a:avLst/>
          </a:prstGeom>
        </p:spPr>
      </p:pic>
      <p:sp>
        <p:nvSpPr>
          <p:cNvPr id="5" name="diagram frame"/>
          <p:cNvSpPr/>
          <p:nvPr/>
        </p:nvSpPr>
        <p:spPr>
          <a:xfrm>
            <a:off x="569715" y="1188720"/>
            <a:ext cx="6541531" cy="4937760"/>
          </a:xfrm>
          <a:prstGeom prst="rect">
            <a:avLst/>
          </a:prstGeom>
          <a:ln w="9525">
            <a:solidFill>
              <a:schemeClr val="tx1"/>
            </a:solidFill>
            <a:prstDash val="solid"/>
          </a:ln>
        </p:spPr>
      </p:sp>
      <p:sp>
        <p:nvSpPr>
          <p:cNvPr id="6" name="card The safety mechanisms"/>
          <p:cNvSpPr/>
          <p:nvPr/>
        </p:nvSpPr>
        <p:spPr>
          <a:xfrm>
            <a:off x="7452360" y="1280160"/>
            <a:ext cx="4160520" cy="4846320"/>
          </a:xfrm>
          <a:prstGeom prst="rect">
            <a:avLst/>
          </a:prstGeom>
          <a:solidFill>
            <a:schemeClr val="bg1"/>
          </a:solidFill>
          <a:ln w="12700">
            <a:solidFill>
              <a:schemeClr val="tx1"/>
            </a:solidFill>
            <a:prstDash val="solid"/>
          </a:ln>
        </p:spPr>
      </p:sp>
      <p:sp>
        <p:nvSpPr>
          <p:cNvPr id="7" name="Text 3"/>
          <p:cNvSpPr txBox="1"/>
          <p:nvPr/>
        </p:nvSpPr>
        <p:spPr>
          <a:xfrm>
            <a:off x="7589520" y="1389888"/>
            <a:ext cx="388620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The safety mechanisms</a:t>
            </a:r>
            <a:endParaRPr lang="en-US" sz="2000" dirty="0"/>
          </a:p>
          <a:p>
            <a:pPr marL="177800" indent="-177800">
              <a:spcAft>
                <a:spcPts val="800"/>
              </a:spcAft>
              <a:buSzPct val="100000"/>
              <a:buChar char="•"/>
            </a:pPr>
            <a:r>
              <a:rPr lang="en-US" sz="1600" dirty="0">
                <a:solidFill>
                  <a:schemeClr val="tx1"/>
                </a:solidFill>
              </a:rPr>
              <a:t>Timeout becomes UNKNOWN, never failed</a:t>
            </a:r>
            <a:endParaRPr lang="en-US" sz="2000" dirty="0"/>
          </a:p>
          <a:p>
            <a:pPr marL="177800" indent="-177800">
              <a:spcAft>
                <a:spcPts val="800"/>
              </a:spcAft>
              <a:buSzPct val="100000"/>
              <a:buChar char="•"/>
            </a:pPr>
            <a:r>
              <a:rPr lang="en-US" sz="1600" dirty="0">
                <a:solidFill>
                  <a:schemeClr val="tx1"/>
                </a:solidFill>
              </a:rPr>
              <a:t>Same key returns the same order</a:t>
            </a:r>
            <a:endParaRPr lang="en-US" sz="2000" dirty="0"/>
          </a:p>
          <a:p>
            <a:pPr marL="177800" indent="-177800">
              <a:spcAft>
                <a:spcPts val="800"/>
              </a:spcAft>
              <a:buSzPct val="100000"/>
              <a:buChar char="•"/>
            </a:pPr>
            <a:r>
              <a:rPr lang="en-US" sz="1600" dirty="0">
                <a:solidFill>
                  <a:schemeClr val="tx1"/>
                </a:solidFill>
              </a:rPr>
              <a:t>One pending order per customer</a:t>
            </a:r>
            <a:endParaRPr lang="en-US" sz="2000" dirty="0"/>
          </a:p>
          <a:p>
            <a:pPr marL="177800" indent="-177800">
              <a:spcAft>
                <a:spcPts val="800"/>
              </a:spcAft>
              <a:buSzPct val="100000"/>
              <a:buChar char="•"/>
            </a:pPr>
            <a:r>
              <a:rPr lang="en-US" sz="1600" dirty="0">
                <a:solidFill>
                  <a:schemeClr val="tx1"/>
                </a:solidFill>
              </a:rPr>
              <a:t>Circuit breaker stops calls while the provider is down</a:t>
            </a:r>
            <a:endParaRPr lang="en-US" sz="2000" dirty="0"/>
          </a:p>
          <a:p>
            <a:pPr marL="177800" indent="-177800">
              <a:spcAft>
                <a:spcPts val="800"/>
              </a:spcAft>
              <a:buSzPct val="100000"/>
              <a:buChar char="•"/>
            </a:pPr>
            <a:r>
              <a:rPr lang="en-US" sz="1600" dirty="0">
                <a:solidFill>
                  <a:schemeClr val="tx1"/>
                </a:solidFill>
              </a:rPr>
              <a:t>Same-key replay cannot charge twice</a:t>
            </a:r>
            <a:endParaRPr lang="en-US" sz="2000" dirty="0"/>
          </a:p>
          <a:p>
            <a:pPr marL="177800" indent="-177800">
              <a:spcAft>
                <a:spcPts val="800"/>
              </a:spcAft>
              <a:buSzPct val="100000"/>
              <a:buChar char="•"/>
            </a:pPr>
            <a:r>
              <a:rPr lang="en-US" sz="1600" dirty="0">
                <a:solidFill>
                  <a:schemeClr val="tx1"/>
                </a:solidFill>
              </a:rPr>
              <a:t>One transaction saves result and event</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How the architecture recovers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011680"/>
                <a:gridCol w="5394960"/>
                <a:gridCol w="3657600"/>
              </a:tblGrid>
              <a:tr h="0">
                <a:tc>
                  <a:txBody>
                    <a:bodyPr/>
                    <a:lstStyle/>
                    <a:p>
                      <a:pPr indent="0" marL="0">
                        <a:buNone/>
                      </a:pPr>
                      <a:r>
                        <a:rPr lang="en-US" sz="1600" b="1" dirty="0">
                          <a:solidFill>
                            <a:schemeClr val="bg1"/>
                          </a:solidFill>
                        </a:rPr>
                        <a:t>Layer</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Mechanism</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Protects against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r>
              <a:tr h="0">
                <a:tc>
                  <a:txBody>
                    <a:bodyPr/>
                    <a:lstStyle/>
                    <a:p>
                      <a:pPr indent="0" marL="0">
                        <a:buNone/>
                      </a:pPr>
                      <a:r>
                        <a:rPr lang="en-US" sz="1600" b="1" dirty="0">
                          <a:solidFill>
                            <a:schemeClr val="tx1"/>
                          </a:solidFill>
                        </a:rPr>
                        <a:t>Prevent</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Order first, idempotency keys, one pending order per customer</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Duplicates; charged with no order</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Contain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Worker-only provider calls, own queue, timeouts, circuit breaker</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 slow provider dragging everything down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Survive crashes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Ledger written before calling, outbox in the same transaction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Lost results and lost events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Converge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Webhooks, sweeper, daily settlement check</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Outcomes we never heard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Compensate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Void or refund rules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Money held for orders that will not happen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Explain</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Payment events log, order history, support timeline, alerts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Support questions and post-incident review</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Synchronous or asynchronous, and where failures stop</a:t>
            </a:r>
            <a:endParaRPr lang="en-US" sz="3000" dirty="0"/>
          </a:p>
        </p:txBody>
      </p:sp>
      <p:sp>
        <p:nvSpPr>
          <p:cNvPr id="4" name="card Synchronous"/>
          <p:cNvSpPr/>
          <p:nvPr/>
        </p:nvSpPr>
        <p:spPr>
          <a:xfrm>
            <a:off x="548640" y="1280160"/>
            <a:ext cx="3520440" cy="4846320"/>
          </a:xfrm>
          <a:prstGeom prst="rect">
            <a:avLst/>
          </a:prstGeom>
          <a:solidFill>
            <a:schemeClr val="bg1"/>
          </a:solidFill>
          <a:ln w="12700">
            <a:solidFill>
              <a:schemeClr val="tx1"/>
            </a:solidFill>
            <a:prstDash val="solid"/>
          </a:ln>
        </p:spPr>
      </p:sp>
      <p:sp>
        <p:nvSpPr>
          <p:cNvPr id="5" name="Text 2"/>
          <p:cNvSpPr txBox="1"/>
          <p:nvPr/>
        </p:nvSpPr>
        <p:spPr>
          <a:xfrm>
            <a:off x="685800" y="1389888"/>
            <a:ext cx="324612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Synchronous</a:t>
            </a:r>
            <a:endParaRPr lang="en-US" sz="2000" dirty="0"/>
          </a:p>
          <a:p>
            <a:pPr marL="177800" indent="-177800">
              <a:spcAft>
                <a:spcPts val="800"/>
              </a:spcAft>
              <a:buSzPct val="100000"/>
              <a:buChar char="•"/>
            </a:pPr>
            <a:r>
              <a:rPr lang="en-US" sz="1800" dirty="0">
                <a:solidFill>
                  <a:schemeClr val="tx1"/>
                </a:solidFill>
              </a:rPr>
              <a:t>Browse and basket quote</a:t>
            </a:r>
            <a:endParaRPr lang="en-US" sz="2000" dirty="0"/>
          </a:p>
          <a:p>
            <a:pPr marL="177800" indent="-177800">
              <a:spcAft>
                <a:spcPts val="800"/>
              </a:spcAft>
              <a:buSzPct val="100000"/>
              <a:buChar char="•"/>
            </a:pPr>
            <a:r>
              <a:rPr lang="en-US" sz="1800" dirty="0">
                <a:solidFill>
                  <a:schemeClr val="tx1"/>
                </a:solidFill>
              </a:rPr>
              <a:t>Recording the order (returns 202)</a:t>
            </a:r>
            <a:endParaRPr lang="en-US" sz="2000" dirty="0"/>
          </a:p>
          <a:p>
            <a:pPr marL="177800" indent="-177800">
              <a:spcAft>
                <a:spcPts val="800"/>
              </a:spcAft>
              <a:buSzPct val="100000"/>
              <a:buChar char="•"/>
            </a:pPr>
            <a:r>
              <a:rPr lang="en-US" sz="1800" dirty="0">
                <a:solidFill>
                  <a:schemeClr val="tx1"/>
                </a:solidFill>
              </a:rPr>
              <a:t>Restaurant accept / reject</a:t>
            </a:r>
            <a:endParaRPr lang="en-US" sz="2000" dirty="0"/>
          </a:p>
          <a:p>
            <a:pPr marL="177800" indent="-177800">
              <a:spcAft>
                <a:spcPts val="800"/>
              </a:spcAft>
              <a:buSzPct val="100000"/>
              <a:buChar char="•"/>
            </a:pPr>
            <a:r>
              <a:rPr lang="en-US" sz="1800" dirty="0">
                <a:solidFill>
                  <a:schemeClr val="tx1"/>
                </a:solidFill>
              </a:rPr>
              <a:t>Status updates and history</a:t>
            </a:r>
            <a:endParaRPr lang="en-US" sz="2000" dirty="0"/>
          </a:p>
        </p:txBody>
      </p:sp>
      <p:sp>
        <p:nvSpPr>
          <p:cNvPr id="6" name="card Asynchronous"/>
          <p:cNvSpPr/>
          <p:nvPr/>
        </p:nvSpPr>
        <p:spPr>
          <a:xfrm>
            <a:off x="4315968" y="1280160"/>
            <a:ext cx="3520440" cy="4846320"/>
          </a:xfrm>
          <a:prstGeom prst="rect">
            <a:avLst/>
          </a:prstGeom>
          <a:solidFill>
            <a:schemeClr val="bg1"/>
          </a:solidFill>
          <a:ln w="12700">
            <a:solidFill>
              <a:schemeClr val="tx1"/>
            </a:solidFill>
            <a:prstDash val="solid"/>
          </a:ln>
        </p:spPr>
      </p:sp>
      <p:sp>
        <p:nvSpPr>
          <p:cNvPr id="7" name="Text 4"/>
          <p:cNvSpPr txBox="1"/>
          <p:nvPr/>
        </p:nvSpPr>
        <p:spPr>
          <a:xfrm>
            <a:off x="4453128" y="1389888"/>
            <a:ext cx="324612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Asynchronous</a:t>
            </a:r>
            <a:endParaRPr lang="en-US" sz="2000" dirty="0"/>
          </a:p>
          <a:p>
            <a:pPr marL="177800" indent="-177800">
              <a:spcAft>
                <a:spcPts val="800"/>
              </a:spcAft>
              <a:buSzPct val="100000"/>
              <a:buChar char="•"/>
            </a:pPr>
            <a:r>
              <a:rPr lang="en-US" sz="1800" dirty="0">
                <a:solidFill>
                  <a:schemeClr val="tx1"/>
                </a:solidFill>
              </a:rPr>
              <a:t>Authorise, capture, void, refund</a:t>
            </a:r>
            <a:endParaRPr lang="en-US" sz="2000" dirty="0"/>
          </a:p>
          <a:p>
            <a:pPr marL="177800" indent="-177800">
              <a:spcAft>
                <a:spcPts val="800"/>
              </a:spcAft>
              <a:buSzPct val="100000"/>
              <a:buChar char="•"/>
            </a:pPr>
            <a:r>
              <a:rPr lang="en-US" sz="1800" dirty="0">
                <a:solidFill>
                  <a:schemeClr val="tx1"/>
                </a:solidFill>
              </a:rPr>
              <a:t>Notifications</a:t>
            </a:r>
            <a:endParaRPr lang="en-US" sz="2000" dirty="0"/>
          </a:p>
          <a:p>
            <a:pPr marL="177800" indent="-177800">
              <a:spcAft>
                <a:spcPts val="800"/>
              </a:spcAft>
              <a:buSzPct val="100000"/>
              <a:buChar char="•"/>
            </a:pPr>
            <a:r>
              <a:rPr lang="en-US" sz="1800" dirty="0">
                <a:solidFill>
                  <a:schemeClr val="tx1"/>
                </a:solidFill>
              </a:rPr>
              <a:t>Reconciliation</a:t>
            </a:r>
            <a:endParaRPr lang="en-US" sz="2000" dirty="0"/>
          </a:p>
          <a:p>
            <a:pPr marL="177800" indent="-177800">
              <a:spcAft>
                <a:spcPts val="800"/>
              </a:spcAft>
              <a:buSzPct val="100000"/>
              <a:buChar char="•"/>
            </a:pPr>
            <a:r>
              <a:rPr lang="en-US" sz="1800" dirty="0">
                <a:solidFill>
                  <a:schemeClr val="tx1"/>
                </a:solidFill>
              </a:rPr>
              <a:t>Reporting summaries</a:t>
            </a:r>
            <a:endParaRPr lang="en-US" sz="2000" dirty="0"/>
          </a:p>
        </p:txBody>
      </p:sp>
      <p:sp>
        <p:nvSpPr>
          <p:cNvPr id="8" name="card Deliberately not done"/>
          <p:cNvSpPr/>
          <p:nvPr/>
        </p:nvSpPr>
        <p:spPr>
          <a:xfrm>
            <a:off x="8092440" y="1280160"/>
            <a:ext cx="3520440" cy="4846320"/>
          </a:xfrm>
          <a:prstGeom prst="rect">
            <a:avLst/>
          </a:prstGeom>
          <a:solidFill>
            <a:schemeClr val="bg1"/>
          </a:solidFill>
          <a:ln w="28575">
            <a:solidFill>
              <a:schemeClr val="tx1"/>
            </a:solidFill>
            <a:prstDash val="solid"/>
          </a:ln>
        </p:spPr>
      </p:sp>
      <p:sp>
        <p:nvSpPr>
          <p:cNvPr id="9" name="Text 6"/>
          <p:cNvSpPr txBox="1"/>
          <p:nvPr/>
        </p:nvSpPr>
        <p:spPr>
          <a:xfrm>
            <a:off x="8229600" y="1389888"/>
            <a:ext cx="324612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Deliberately not done</a:t>
            </a:r>
            <a:endParaRPr lang="en-US" sz="2000" dirty="0"/>
          </a:p>
          <a:p>
            <a:pPr marL="177800" indent="-177800">
              <a:spcAft>
                <a:spcPts val="800"/>
              </a:spcAft>
              <a:buSzPct val="100000"/>
              <a:buChar char="•"/>
            </a:pPr>
            <a:r>
              <a:rPr lang="en-US" sz="1800" dirty="0">
                <a:solidFill>
                  <a:schemeClr val="tx1"/>
                </a:solidFill>
              </a:rPr>
              <a:t>Extracting Payments: adds another network hop that can also time out</a:t>
            </a:r>
            <a:endParaRPr lang="en-US" sz="2000" dirty="0"/>
          </a:p>
          <a:p>
            <a:pPr marL="177800" indent="-177800">
              <a:spcAft>
                <a:spcPts val="800"/>
              </a:spcAft>
              <a:buSzPct val="100000"/>
              <a:buChar char="•"/>
            </a:pPr>
            <a:r>
              <a:rPr lang="en-US" sz="1800" dirty="0">
                <a:solidFill>
                  <a:schemeClr val="tx1"/>
                </a:solidFill>
              </a:rPr>
              <a:t>Second payment provider</a:t>
            </a:r>
            <a:endParaRPr lang="en-US" sz="2000" dirty="0"/>
          </a:p>
          <a:p>
            <a:pPr marL="177800" indent="-177800">
              <a:spcAft>
                <a:spcPts val="800"/>
              </a:spcAft>
              <a:buSzPct val="100000"/>
              <a:buChar char="•"/>
            </a:pPr>
            <a:r>
              <a:rPr lang="en-US" sz="1800" dirty="0">
                <a:solidFill>
                  <a:schemeClr val="tx1"/>
                </a:solidFill>
              </a:rPr>
              <a:t>Two-phase commit</a:t>
            </a:r>
            <a:endParaRPr lang="en-US" sz="2000" dirty="0"/>
          </a:p>
          <a:p>
            <a:pPr marL="177800" indent="-177800">
              <a:spcAft>
                <a:spcPts val="800"/>
              </a:spcAft>
              <a:buSzPct val="100000"/>
              <a:buChar char="•"/>
            </a:pPr>
            <a:r>
              <a:rPr lang="en-US" sz="1800" dirty="0">
                <a:solidFill>
                  <a:schemeClr val="tx1"/>
                </a:solidFill>
              </a:rPr>
              <a:t>Event sourcing everywhere</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indent="0" marL="0">
              <a:buNone/>
            </a:pPr>
            <a:r>
              <a:rPr lang="en-US" sz="4000" b="1" dirty="0">
                <a:solidFill>
                  <a:schemeClr val="bg1"/>
                </a:solidFill>
              </a:rPr>
              <a:t>Final challenge: integrating an acquired company</a:t>
            </a:r>
            <a:endParaRPr lang="en-US" sz="4000" dirty="0"/>
          </a:p>
        </p:txBody>
      </p:sp>
      <p:sp>
        <p:nvSpPr>
          <p:cNvPr id="3" name="Text 0"/>
          <p:cNvSpPr/>
          <p:nvPr>
            <p:ph idx="101" type="body" hasCustomPrompt="1"/>
          </p:nvPr>
        </p:nvSpPr>
        <p:spPr>
          <a:xfrm>
            <a:off x="731520" y="3611880"/>
            <a:ext cx="10698480" cy="1280160"/>
          </a:xfrm>
          <a:prstGeom prst="rect">
            <a:avLst/>
          </a:prstGeom>
          <a:noFill/>
          <a:ln/>
        </p:spPr>
        <p:txBody>
          <a:bodyPr wrap="square" lIns="0" tIns="0" rIns="0" bIns="0" rtlCol="0" anchor="t"/>
          <a:lstStyle/>
          <a:p>
            <a:pPr algn="ctr" indent="0" marL="0">
              <a:buNone/>
            </a:pPr>
            <a:r>
              <a:rPr lang="en-US" sz="2000" dirty="0">
                <a:solidFill>
                  <a:schemeClr val="accent5"/>
                </a:solidFill>
              </a:rPr>
              <a:t>Their own customer, restaurant, order and payment systems  |  integrate without rewriting either platform</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First decide what "integrate" means, and who owns what</a:t>
            </a:r>
            <a:endParaRPr lang="en-US" sz="3000" dirty="0"/>
          </a:p>
        </p:txBody>
      </p:sp>
      <p:sp>
        <p:nvSpPr>
          <p:cNvPr id="4" name="card Phase 1 scope"/>
          <p:cNvSpPr/>
          <p:nvPr/>
        </p:nvSpPr>
        <p:spPr>
          <a:xfrm>
            <a:off x="548640" y="1280160"/>
            <a:ext cx="5394960" cy="4846320"/>
          </a:xfrm>
          <a:prstGeom prst="rect">
            <a:avLst/>
          </a:prstGeom>
          <a:solidFill>
            <a:schemeClr val="bg1"/>
          </a:solidFill>
          <a:ln w="12700">
            <a:solidFill>
              <a:schemeClr val="tx1"/>
            </a:solidFill>
            <a:prstDash val="solid"/>
          </a:ln>
        </p:spPr>
      </p:sp>
      <p:sp>
        <p:nvSpPr>
          <p:cNvPr id="5" name="Text 2"/>
          <p:cNvSpPr txBox="1"/>
          <p:nvPr/>
        </p:nvSpPr>
        <p:spPr>
          <a:xfrm>
            <a:off x="685800" y="1389888"/>
            <a:ext cx="512064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Phase 1 scope</a:t>
            </a:r>
            <a:endParaRPr lang="en-US" sz="2000" dirty="0"/>
          </a:p>
          <a:p>
            <a:pPr marL="177800" indent="-177800">
              <a:spcAft>
                <a:spcPts val="800"/>
              </a:spcAft>
              <a:buSzPct val="100000"/>
              <a:buChar char="•"/>
            </a:pPr>
            <a:r>
              <a:rPr lang="en-US" sz="1800" dirty="0">
                <a:solidFill>
                  <a:schemeClr val="tx1"/>
                </a:solidFill>
              </a:rPr>
              <a:t>In: our customers can order from their restaurants</a:t>
            </a:r>
            <a:endParaRPr lang="en-US" sz="2000" dirty="0"/>
          </a:p>
          <a:p>
            <a:pPr marL="177800" indent="-177800">
              <a:spcAft>
                <a:spcPts val="800"/>
              </a:spcAft>
              <a:buSzPct val="100000"/>
              <a:buChar char="•"/>
            </a:pPr>
            <a:r>
              <a:rPr lang="en-US" sz="1800" dirty="0">
                <a:solidFill>
                  <a:schemeClr val="tx1"/>
                </a:solidFill>
              </a:rPr>
              <a:t>In: combined orders and revenue reporting</a:t>
            </a:r>
            <a:endParaRPr lang="en-US" sz="2000" dirty="0"/>
          </a:p>
          <a:p>
            <a:pPr marL="177800" indent="-177800">
              <a:spcAft>
                <a:spcPts val="800"/>
              </a:spcAft>
              <a:buSzPct val="100000"/>
              <a:buChar char="•"/>
            </a:pPr>
            <a:r>
              <a:rPr lang="en-US" sz="1800" dirty="0">
                <a:solidFill>
                  <a:schemeClr val="tx1"/>
                </a:solidFill>
              </a:rPr>
              <a:t>Unchanged: their customers keep using their app</a:t>
            </a:r>
            <a:endParaRPr lang="en-US" sz="2000" dirty="0"/>
          </a:p>
          <a:p>
            <a:pPr marL="177800" indent="-177800">
              <a:spcAft>
                <a:spcPts val="800"/>
              </a:spcAft>
              <a:buSzPct val="100000"/>
              <a:buChar char="•"/>
            </a:pPr>
            <a:r>
              <a:rPr lang="en-US" sz="1800" dirty="0">
                <a:solidFill>
                  <a:schemeClr val="tx1"/>
                </a:solidFill>
              </a:rPr>
              <a:t>Later: merging customer accounts (with consent)</a:t>
            </a:r>
            <a:endParaRPr lang="en-US" sz="2000" dirty="0"/>
          </a:p>
          <a:p>
            <a:pPr marL="177800" indent="-177800">
              <a:spcAft>
                <a:spcPts val="800"/>
              </a:spcAft>
              <a:buSzPct val="100000"/>
              <a:buChar char="•"/>
            </a:pPr>
            <a:r>
              <a:rPr lang="en-US" sz="1800" dirty="0">
                <a:solidFill>
                  <a:schemeClr val="tx1"/>
                </a:solidFill>
              </a:rPr>
              <a:t>Out: rewriting either platform, merging payments</a:t>
            </a:r>
            <a:endParaRPr lang="en-US" sz="2000" dirty="0"/>
          </a:p>
        </p:txBody>
      </p:sp>
      <p:sp>
        <p:nvSpPr>
          <p:cNvPr id="6" name="card Data ownership"/>
          <p:cNvSpPr/>
          <p:nvPr/>
        </p:nvSpPr>
        <p:spPr>
          <a:xfrm>
            <a:off x="6217920" y="1280160"/>
            <a:ext cx="5394960" cy="4846320"/>
          </a:xfrm>
          <a:prstGeom prst="rect">
            <a:avLst/>
          </a:prstGeom>
          <a:solidFill>
            <a:schemeClr val="bg1"/>
          </a:solidFill>
          <a:ln w="12700">
            <a:solidFill>
              <a:schemeClr val="tx1"/>
            </a:solidFill>
            <a:prstDash val="solid"/>
          </a:ln>
        </p:spPr>
      </p:sp>
      <p:sp>
        <p:nvSpPr>
          <p:cNvPr id="7" name="Text 4"/>
          <p:cNvSpPr txBox="1"/>
          <p:nvPr/>
        </p:nvSpPr>
        <p:spPr>
          <a:xfrm>
            <a:off x="6355080" y="1389888"/>
            <a:ext cx="512064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Data ownership</a:t>
            </a:r>
            <a:endParaRPr lang="en-US" sz="2000" dirty="0"/>
          </a:p>
          <a:p>
            <a:pPr marL="177800" indent="-177800">
              <a:spcAft>
                <a:spcPts val="800"/>
              </a:spcAft>
              <a:buSzPct val="100000"/>
              <a:buChar char="•"/>
            </a:pPr>
            <a:r>
              <a:rPr lang="en-US" sz="1800" dirty="0">
                <a:solidFill>
                  <a:schemeClr val="tx1"/>
                </a:solidFill>
              </a:rPr>
              <a:t>Their restaurants and menus: they own; we hold a read-only copy</a:t>
            </a:r>
            <a:endParaRPr lang="en-US" sz="2000" dirty="0"/>
          </a:p>
          <a:p>
            <a:pPr marL="177800" indent="-177800">
              <a:spcAft>
                <a:spcPts val="800"/>
              </a:spcAft>
              <a:buSzPct val="100000"/>
              <a:buChar char="•"/>
            </a:pPr>
            <a:r>
              <a:rPr lang="en-US" sz="1800" dirty="0">
                <a:solidFill>
                  <a:schemeClr val="tx1"/>
                </a:solidFill>
              </a:rPr>
              <a:t>Orders on our platform: we own the customer-facing order</a:t>
            </a:r>
            <a:endParaRPr lang="en-US" sz="2000" dirty="0"/>
          </a:p>
          <a:p>
            <a:pPr marL="177800" indent="-177800">
              <a:spcAft>
                <a:spcPts val="800"/>
              </a:spcAft>
              <a:buSzPct val="100000"/>
              <a:buChar char="•"/>
            </a:pPr>
            <a:r>
              <a:rPr lang="en-US" sz="1800" dirty="0">
                <a:solidFill>
                  <a:schemeClr val="tx1"/>
                </a:solidFill>
              </a:rPr>
              <a:t>Fulfilment of those orders: their system and drivers</a:t>
            </a:r>
            <a:endParaRPr lang="en-US" sz="2000" dirty="0"/>
          </a:p>
          <a:p>
            <a:pPr marL="177800" indent="-177800">
              <a:spcAft>
                <a:spcPts val="800"/>
              </a:spcAft>
              <a:buSzPct val="100000"/>
              <a:buChar char="•"/>
            </a:pPr>
            <a:r>
              <a:rPr lang="en-US" sz="1800" dirty="0">
                <a:solidFill>
                  <a:schemeClr val="tx1"/>
                </a:solidFill>
              </a:rPr>
              <a:t>Payment: each platform charges for its own orders</a:t>
            </a:r>
            <a:endParaRPr lang="en-US" sz="2000" dirty="0"/>
          </a:p>
          <a:p>
            <a:pPr marL="177800" indent="-177800">
              <a:spcAft>
                <a:spcPts val="800"/>
              </a:spcAft>
              <a:buSzPct val="100000"/>
              <a:buChar char="•"/>
            </a:pPr>
            <a:r>
              <a:rPr lang="en-US" sz="1800" dirty="0">
                <a:solidFill>
                  <a:schemeClr val="tx1"/>
                </a:solidFill>
              </a:rPr>
              <a:t>ID mapping: owned by the integration module</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One new module: the Anti-Corruption Layer</a:t>
            </a:r>
            <a:endParaRPr lang="en-US" sz="3000" dirty="0"/>
          </a:p>
        </p:txBody>
      </p:sp>
      <p:pic>
        <p:nvPicPr>
          <p:cNvPr id="4" name="diagram Challenge/diagrams/Challenge-Integration-page1.png" descr="Our modules never see their model; their platform is untouched">    </p:cNvPr>
          <p:cNvPicPr>
            <a:picLocks noChangeAspect="1"/>
          </p:cNvPicPr>
          <p:nvPr/>
        </p:nvPicPr>
        <p:blipFill>
          <a:blip r:embed="rId1"/>
          <a:stretch>
            <a:fillRect/>
          </a:stretch>
        </p:blipFill>
        <p:spPr>
          <a:xfrm>
            <a:off x="1904453" y="1188720"/>
            <a:ext cx="8352613" cy="4800600"/>
          </a:xfrm>
          <a:prstGeom prst="rect">
            <a:avLst/>
          </a:prstGeom>
        </p:spPr>
      </p:pic>
      <p:sp>
        <p:nvSpPr>
          <p:cNvPr id="5" name="diagram frame"/>
          <p:cNvSpPr/>
          <p:nvPr/>
        </p:nvSpPr>
        <p:spPr>
          <a:xfrm>
            <a:off x="1904453" y="1188720"/>
            <a:ext cx="8352613" cy="4800600"/>
          </a:xfrm>
          <a:prstGeom prst="rect">
            <a:avLst/>
          </a:prstGeom>
          <a:ln w="9525">
            <a:solidFill>
              <a:schemeClr val="tx1"/>
            </a:solidFill>
            <a:prstDash val="solid"/>
          </a:ln>
        </p:spPr>
      </p:sp>
      <p:sp>
        <p:nvSpPr>
          <p:cNvPr id="6" name="Text 2"/>
          <p:cNvSpPr txBox="1"/>
          <p:nvPr/>
        </p:nvSpPr>
        <p:spPr>
          <a:xfrm>
            <a:off x="548640" y="6062472"/>
            <a:ext cx="11064240" cy="274320"/>
          </a:xfrm>
          <a:prstGeom prst="rect">
            <a:avLst/>
          </a:prstGeom>
          <a:noFill/>
          <a:ln/>
        </p:spPr>
        <p:txBody>
          <a:bodyPr wrap="square" lIns="0" tIns="0" rIns="0" bIns="0" rtlCol="0" anchor="ctr"/>
          <a:lstStyle/>
          <a:p>
            <a:pPr algn="ctr" indent="0" marL="0">
              <a:buNone/>
            </a:pPr>
            <a:r>
              <a:rPr lang="en-US" sz="1100" i="1" dirty="0">
                <a:solidFill>
                  <a:schemeClr val="tx2"/>
                </a:solidFill>
              </a:rPr>
              <a:t>Our modules never see their model; their platform is untouched</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1"/>
                </a:solidFill>
              </a:rPr>
              <a:t>Their failures stay on their side</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949440" cy="914400"/>
        </p:xfrm>
        <a:graphic>
          <a:graphicData uri="http://schemas.openxmlformats.org/drawingml/2006/table">
            <a:tbl>
              <a:tblPr/>
              <a:tblGrid>
                <a:gridCol w="2651760"/>
                <a:gridCol w="4297680"/>
              </a:tblGrid>
              <a:tr h="0">
                <a:tc>
                  <a:txBody>
                    <a:bodyPr/>
                    <a:lstStyle/>
                    <a:p>
                      <a:pPr indent="0" marL="0">
                        <a:buNone/>
                      </a:pPr>
                      <a:r>
                        <a:rPr lang="en-US" sz="1600" b="1" dirty="0">
                          <a:solidFill>
                            <a:schemeClr val="bg1"/>
                          </a:solidFill>
                        </a:rPr>
                        <a:t>Failure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What happens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solidFill>
                  </a:tcPr>
                </a:tc>
              </a:tr>
              <a:tr h="0">
                <a:tc>
                  <a:txBody>
                    <a:bodyPr/>
                    <a:lstStyle/>
                    <a:p>
                      <a:pPr indent="0" marL="0">
                        <a:buNone/>
                      </a:pPr>
                      <a:r>
                        <a:rPr lang="en-US" sz="1600" b="1" dirty="0">
                          <a:solidFill>
                            <a:schemeClr val="tx1"/>
                          </a:solidFill>
                        </a:rPr>
                        <a:t>Their API down during sync</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Serve last synced copy; after 30 min mark their restaurants unavailable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Their API down when forwarding</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Retry with the same key; no confirmation in 10 min means reject and void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Webhook missed or duplicated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Polling reconciles; inbox drops duplicates</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Their payload changes shape</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Translation fails loudly to dead-letter; our data is never corrupted</a:t>
                      </a:r>
                      <a:endParaRPr lang="en-US" sz="1600" dirty="0"/>
                    </a:p>
                  </a:txBody>
                  <a:tcPr marL="73152" marR="73152" marT="45720" marB="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bl>
          </a:graphicData>
        </a:graphic>
      </p:graphicFrame>
      <p:sp>
        <p:nvSpPr>
          <p:cNvPr id="5" name="card Versioning and coupling"/>
          <p:cNvSpPr/>
          <p:nvPr/>
        </p:nvSpPr>
        <p:spPr>
          <a:xfrm>
            <a:off x="7772400" y="1280160"/>
            <a:ext cx="3840480" cy="4846320"/>
          </a:xfrm>
          <a:prstGeom prst="rect">
            <a:avLst/>
          </a:prstGeom>
          <a:solidFill>
            <a:schemeClr val="bg1"/>
          </a:solidFill>
          <a:ln w="12700">
            <a:solidFill>
              <a:schemeClr val="tx1"/>
            </a:solidFill>
            <a:prstDash val="solid"/>
          </a:ln>
        </p:spPr>
      </p:sp>
      <p:sp>
        <p:nvSpPr>
          <p:cNvPr id="6" name="Text 2"/>
          <p:cNvSpPr txBox="1"/>
          <p:nvPr/>
        </p:nvSpPr>
        <p:spPr>
          <a:xfrm>
            <a:off x="7909560" y="1389888"/>
            <a:ext cx="3566160" cy="4626864"/>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Versioning and coupling</a:t>
            </a:r>
            <a:endParaRPr lang="en-US" sz="2000" dirty="0"/>
          </a:p>
          <a:p>
            <a:pPr marL="177800" indent="-177800">
              <a:spcAft>
                <a:spcPts val="800"/>
              </a:spcAft>
              <a:buSzPct val="100000"/>
              <a:buChar char="•"/>
            </a:pPr>
            <a:r>
              <a:rPr lang="en-US" sz="1600" dirty="0">
                <a:solidFill>
                  <a:schemeClr val="tx1"/>
                </a:solidFill>
              </a:rPr>
              <a:t>Pin their API version in the adapter</a:t>
            </a:r>
            <a:endParaRPr lang="en-US" sz="2000" dirty="0"/>
          </a:p>
          <a:p>
            <a:pPr marL="177800" indent="-177800">
              <a:spcAft>
                <a:spcPts val="800"/>
              </a:spcAft>
              <a:buSzPct val="100000"/>
              <a:buChar char="•"/>
            </a:pPr>
            <a:r>
              <a:rPr lang="en-US" sz="1600" dirty="0">
                <a:solidFill>
                  <a:schemeClr val="tx1"/>
                </a:solidFill>
              </a:rPr>
              <a:t>Consumer-driven contract tests</a:t>
            </a:r>
            <a:endParaRPr lang="en-US" sz="2000" dirty="0"/>
          </a:p>
          <a:p>
            <a:pPr marL="177800" indent="-177800">
              <a:spcAft>
                <a:spcPts val="800"/>
              </a:spcAft>
              <a:buSzPct val="100000"/>
              <a:buChar char="•"/>
            </a:pPr>
            <a:r>
              <a:rPr lang="en-US" sz="1600" dirty="0">
                <a:solidFill>
                  <a:schemeClr val="tx1"/>
                </a:solidFill>
              </a:rPr>
              <a:t>Tolerant reader for additive changes</a:t>
            </a:r>
            <a:endParaRPr lang="en-US" sz="2000" dirty="0"/>
          </a:p>
          <a:p>
            <a:pPr marL="177800" indent="-177800">
              <a:spcAft>
                <a:spcPts val="800"/>
              </a:spcAft>
              <a:buSzPct val="100000"/>
              <a:buChar char="•"/>
            </a:pPr>
            <a:r>
              <a:rPr lang="en-US" sz="1600" dirty="0">
                <a:solidFill>
                  <a:schemeClr val="tx1"/>
                </a:solidFill>
              </a:rPr>
              <a:t>Separate versioned partner API if they call us</a:t>
            </a:r>
            <a:endParaRPr lang="en-US" sz="2000" dirty="0"/>
          </a:p>
          <a:p>
            <a:pPr marL="177800" indent="-177800">
              <a:spcAft>
                <a:spcPts val="800"/>
              </a:spcAft>
              <a:buSzPct val="100000"/>
              <a:buChar char="•"/>
            </a:pPr>
            <a:r>
              <a:rPr lang="en-US" sz="1600" dirty="0">
                <a:solidFill>
                  <a:schemeClr val="tx1"/>
                </a:solidFill>
              </a:rPr>
              <a:t>No shared code, data or database</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indent="0" marL="0">
              <a:buNone/>
            </a:pPr>
            <a:r>
              <a:rPr lang="en-US" sz="4000" b="1" dirty="0">
                <a:solidFill>
                  <a:schemeClr val="bg1"/>
                </a:solidFill>
              </a:rPr>
              <a:t>The thread through all four answers</a:t>
            </a:r>
            <a:endParaRPr lang="en-US" sz="4000" dirty="0"/>
          </a:p>
        </p:txBody>
      </p:sp>
      <p:sp>
        <p:nvSpPr>
          <p:cNvPr id="3" name="Text 0"/>
          <p:cNvSpPr/>
          <p:nvPr>
            <p:ph idx="101" type="body" hasCustomPrompt="1"/>
          </p:nvPr>
        </p:nvSpPr>
        <p:spPr>
          <a:xfrm>
            <a:off x="731520" y="3611880"/>
            <a:ext cx="10698480" cy="1280160"/>
          </a:xfrm>
          <a:prstGeom prst="rect">
            <a:avLst/>
          </a:prstGeom>
          <a:noFill/>
          <a:ln/>
        </p:spPr>
        <p:txBody>
          <a:bodyPr wrap="square" lIns="0" tIns="0" rIns="0" bIns="0" rtlCol="0" anchor="t"/>
          <a:lstStyle/>
          <a:p>
            <a:pPr algn="ctr" indent="0" marL="0">
              <a:buNone/>
            </a:pPr>
            <a:r>
              <a:rPr lang="en-US" sz="2000" dirty="0">
                <a:solidFill>
                  <a:schemeClr val="accent5"/>
                </a:solidFill>
              </a:rPr>
              <a:t>Q1 boundaries make every Q2 change local.  The Q2 outbox is what makes Q3 safe.  Q3 resilience patterns are reused for the acquisition.</a:t>
            </a:r>
            <a:endParaRPr lang="en-US" sz="2000" dirty="0"/>
          </a:p>
          <a:p>
            <a:pPr algn="ctr" indent="0" marL="0">
              <a:buNone/>
            </a:pPr>
            <a:endParaRPr lang="en-US" sz="2000" dirty="0"/>
          </a:p>
          <a:p>
            <a:pPr algn="ctr" indent="0" marL="0">
              <a:buNone/>
            </a:pPr>
            <a:r>
              <a:rPr lang="en-US" sz="2000" dirty="0">
                <a:solidFill>
                  <a:schemeClr val="accent5"/>
                </a:solidFill>
              </a:rPr>
              <a:t>Questions?</a:t>
            </a:r>
            <a:endParaRPr lang="en-US" sz="2000" dirty="0"/>
          </a:p>
        </p:txBody>
      </p:sp>
    </p:spTree>
  </p:cSld>
  <p:clrMapOvr>
    <a:masterClrMapping/>
  </p:clrMapOvr>
</p:sld>
</file>

<file path=ppt/theme/theme1.xml><?xml version="1.0" encoding="utf-8"?>
<a:theme xmlns:a="http://schemas.openxmlformats.org/drawingml/2006/main" name="Whiteboard Mono">
  <a:themeElements>
    <a:clrScheme name="Whiteboard Mono">
      <a:dk1>
        <a:srgbClr val="000000"/>
      </a:dk1>
      <a:lt1>
        <a:srgbClr val="FFFFFF"/>
      </a:lt1>
      <a:dk2>
        <a:srgbClr val="404040"/>
      </a:dk2>
      <a:lt2>
        <a:srgbClr val="F2F2F2"/>
      </a:lt2>
      <a:accent1>
        <a:srgbClr val="000000"/>
      </a:accent1>
      <a:accent2>
        <a:srgbClr val="404040"/>
      </a:accent2>
      <a:accent3>
        <a:srgbClr val="737373"/>
      </a:accent3>
      <a:accent4>
        <a:srgbClr val="A6A6A6"/>
      </a:accent4>
      <a:accent5>
        <a:srgbClr val="D9D9D9"/>
      </a:accent5>
      <a:accent6>
        <a:srgbClr val="262626"/>
      </a:accent6>
      <a:hlink>
        <a:srgbClr val="000000"/>
      </a:hlink>
      <a:folHlink>
        <a:srgbClr val="404040"/>
      </a:folHlink>
    </a:clrScheme>
    <a:fontScheme name="Whiteboard Mon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Delivery Platform Architecture</dc:title>
  <dc:subject>PptxGenJS Presentation</dc:subject>
  <dc:creator>Architectural Design DP</dc:creator>
  <cp:lastModifiedBy>Architectural Design DP</cp:lastModifiedBy>
  <cp:revision>1</cp:revision>
  <dcterms:created xsi:type="dcterms:W3CDTF">2026-10-09T02:08:03Z</dcterms:created>
  <dcterms:modified xsi:type="dcterms:W3CDTF">2026-10-09T02:08:03Z</dcterms:modified>
</cp:coreProperties>
</file>